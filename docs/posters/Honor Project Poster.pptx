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Lst>
  <p:sldIdLst>
    <p:sldId id="256" r:id="rId2"/>
  </p:sldIdLst>
  <p:sldSz cx="51206400" cy="38404800"/>
  <p:notesSz cx="7004050" cy="92900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96">
          <p15:clr>
            <a:srgbClr val="A4A3A4"/>
          </p15:clr>
        </p15:guide>
        <p15:guide id="2" pos="161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37" autoAdjust="0"/>
    <p:restoredTop sz="94676" autoAdjust="0"/>
  </p:normalViewPr>
  <p:slideViewPr>
    <p:cSldViewPr>
      <p:cViewPr varScale="1">
        <p:scale>
          <a:sx n="18" d="100"/>
          <a:sy n="18" d="100"/>
        </p:scale>
        <p:origin x="1928" y="432"/>
      </p:cViewPr>
      <p:guideLst>
        <p:guide orient="horz" pos="12096"/>
        <p:guide pos="16128"/>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40480" y="6285233"/>
            <a:ext cx="43525440" cy="13370560"/>
          </a:xfrm>
        </p:spPr>
        <p:txBody>
          <a:bodyPr anchor="b"/>
          <a:lstStyle>
            <a:lvl1pPr algn="ctr">
              <a:defRPr sz="33600"/>
            </a:lvl1pPr>
          </a:lstStyle>
          <a:p>
            <a:r>
              <a:rPr lang="en-US"/>
              <a:t>Click to edit Master title style</a:t>
            </a:r>
            <a:endParaRPr lang="en-US" dirty="0"/>
          </a:p>
        </p:txBody>
      </p:sp>
      <p:sp>
        <p:nvSpPr>
          <p:cNvPr id="3" name="Subtitle 2"/>
          <p:cNvSpPr>
            <a:spLocks noGrp="1"/>
          </p:cNvSpPr>
          <p:nvPr>
            <p:ph type="subTitle" idx="1"/>
          </p:nvPr>
        </p:nvSpPr>
        <p:spPr>
          <a:xfrm>
            <a:off x="6400800" y="20171413"/>
            <a:ext cx="38404800" cy="9272267"/>
          </a:xfrm>
        </p:spPr>
        <p:txBody>
          <a:bodyPr/>
          <a:lstStyle>
            <a:lvl1pPr marL="0" indent="0" algn="ctr">
              <a:buNone/>
              <a:defRPr sz="13440"/>
            </a:lvl1pPr>
            <a:lvl2pPr marL="2560320" indent="0" algn="ctr">
              <a:buNone/>
              <a:defRPr sz="11200"/>
            </a:lvl2pPr>
            <a:lvl3pPr marL="5120640" indent="0" algn="ctr">
              <a:buNone/>
              <a:defRPr sz="10080"/>
            </a:lvl3pPr>
            <a:lvl4pPr marL="7680960" indent="0" algn="ctr">
              <a:buNone/>
              <a:defRPr sz="8960"/>
            </a:lvl4pPr>
            <a:lvl5pPr marL="10241280" indent="0" algn="ctr">
              <a:buNone/>
              <a:defRPr sz="8960"/>
            </a:lvl5pPr>
            <a:lvl6pPr marL="12801600" indent="0" algn="ctr">
              <a:buNone/>
              <a:defRPr sz="8960"/>
            </a:lvl6pPr>
            <a:lvl7pPr marL="15361920" indent="0" algn="ctr">
              <a:buNone/>
              <a:defRPr sz="8960"/>
            </a:lvl7pPr>
            <a:lvl8pPr marL="17922240" indent="0" algn="ctr">
              <a:buNone/>
              <a:defRPr sz="8960"/>
            </a:lvl8pPr>
            <a:lvl9pPr marL="20482560" indent="0" algn="ctr">
              <a:buNone/>
              <a:defRPr sz="89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973382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255887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93773" y="9574541"/>
            <a:ext cx="44165520" cy="15975327"/>
          </a:xfrm>
        </p:spPr>
        <p:txBody>
          <a:bodyPr anchor="b"/>
          <a:lstStyle>
            <a:lvl1pPr>
              <a:defRPr sz="33600"/>
            </a:lvl1pPr>
          </a:lstStyle>
          <a:p>
            <a:r>
              <a:rPr lang="en-US"/>
              <a:t>Click to edit Master title style</a:t>
            </a:r>
            <a:endParaRPr lang="en-US" dirty="0"/>
          </a:p>
        </p:txBody>
      </p:sp>
      <p:sp>
        <p:nvSpPr>
          <p:cNvPr id="3" name="Text Placeholder 2"/>
          <p:cNvSpPr>
            <a:spLocks noGrp="1"/>
          </p:cNvSpPr>
          <p:nvPr>
            <p:ph type="body" idx="1"/>
          </p:nvPr>
        </p:nvSpPr>
        <p:spPr>
          <a:xfrm>
            <a:off x="3493773" y="25701001"/>
            <a:ext cx="44165520" cy="8401047"/>
          </a:xfrm>
        </p:spPr>
        <p:txBody>
          <a:bodyPr/>
          <a:lstStyle>
            <a:lvl1pPr marL="0" indent="0">
              <a:buNone/>
              <a:defRPr sz="13440">
                <a:solidFill>
                  <a:schemeClr val="tx1"/>
                </a:solidFill>
              </a:defRPr>
            </a:lvl1pPr>
            <a:lvl2pPr marL="2560320" indent="0">
              <a:buNone/>
              <a:defRPr sz="11200">
                <a:solidFill>
                  <a:schemeClr val="tx1">
                    <a:tint val="75000"/>
                  </a:schemeClr>
                </a:solidFill>
              </a:defRPr>
            </a:lvl2pPr>
            <a:lvl3pPr marL="5120640" indent="0">
              <a:buNone/>
              <a:defRPr sz="10080">
                <a:solidFill>
                  <a:schemeClr val="tx1">
                    <a:tint val="75000"/>
                  </a:schemeClr>
                </a:solidFill>
              </a:defRPr>
            </a:lvl3pPr>
            <a:lvl4pPr marL="7680960" indent="0">
              <a:buNone/>
              <a:defRPr sz="8960">
                <a:solidFill>
                  <a:schemeClr val="tx1">
                    <a:tint val="75000"/>
                  </a:schemeClr>
                </a:solidFill>
              </a:defRPr>
            </a:lvl4pPr>
            <a:lvl5pPr marL="10241280" indent="0">
              <a:buNone/>
              <a:defRPr sz="8960">
                <a:solidFill>
                  <a:schemeClr val="tx1">
                    <a:tint val="75000"/>
                  </a:schemeClr>
                </a:solidFill>
              </a:defRPr>
            </a:lvl5pPr>
            <a:lvl6pPr marL="12801600" indent="0">
              <a:buNone/>
              <a:defRPr sz="8960">
                <a:solidFill>
                  <a:schemeClr val="tx1">
                    <a:tint val="75000"/>
                  </a:schemeClr>
                </a:solidFill>
              </a:defRPr>
            </a:lvl6pPr>
            <a:lvl7pPr marL="15361920" indent="0">
              <a:buNone/>
              <a:defRPr sz="8960">
                <a:solidFill>
                  <a:schemeClr val="tx1">
                    <a:tint val="75000"/>
                  </a:schemeClr>
                </a:solidFill>
              </a:defRPr>
            </a:lvl7pPr>
            <a:lvl8pPr marL="17922240" indent="0">
              <a:buNone/>
              <a:defRPr sz="8960">
                <a:solidFill>
                  <a:schemeClr val="tx1">
                    <a:tint val="75000"/>
                  </a:schemeClr>
                </a:solidFill>
              </a:defRPr>
            </a:lvl8pPr>
            <a:lvl9pPr marL="20482560" indent="0">
              <a:buNone/>
              <a:defRPr sz="89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6/3/20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560480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520440" y="10223500"/>
            <a:ext cx="2176272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5923240" y="10223500"/>
            <a:ext cx="2176272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5D6BDF-9D0E-4E2B-85B8-D8F4790360C9}" type="datetimeFigureOut">
              <a:rPr lang="en-US" smtClean="0"/>
              <a:t>6/3/20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261992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044708"/>
            <a:ext cx="4416552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3527115" y="9414513"/>
            <a:ext cx="21662704" cy="4613907"/>
          </a:xfrm>
        </p:spPr>
        <p:txBody>
          <a:bodyPr anchor="b"/>
          <a:lstStyle>
            <a:lvl1pPr marL="0" indent="0">
              <a:buNone/>
              <a:defRPr sz="13440" b="1"/>
            </a:lvl1pPr>
            <a:lvl2pPr marL="2560320" indent="0">
              <a:buNone/>
              <a:defRPr sz="11200" b="1"/>
            </a:lvl2pPr>
            <a:lvl3pPr marL="5120640" indent="0">
              <a:buNone/>
              <a:defRPr sz="10080" b="1"/>
            </a:lvl3pPr>
            <a:lvl4pPr marL="7680960" indent="0">
              <a:buNone/>
              <a:defRPr sz="8960" b="1"/>
            </a:lvl4pPr>
            <a:lvl5pPr marL="10241280" indent="0">
              <a:buNone/>
              <a:defRPr sz="8960" b="1"/>
            </a:lvl5pPr>
            <a:lvl6pPr marL="12801600" indent="0">
              <a:buNone/>
              <a:defRPr sz="8960" b="1"/>
            </a:lvl6pPr>
            <a:lvl7pPr marL="15361920" indent="0">
              <a:buNone/>
              <a:defRPr sz="8960" b="1"/>
            </a:lvl7pPr>
            <a:lvl8pPr marL="17922240" indent="0">
              <a:buNone/>
              <a:defRPr sz="8960" b="1"/>
            </a:lvl8pPr>
            <a:lvl9pPr marL="20482560" indent="0">
              <a:buNone/>
              <a:defRPr sz="8960" b="1"/>
            </a:lvl9pPr>
          </a:lstStyle>
          <a:p>
            <a:pPr lvl="0"/>
            <a:r>
              <a:rPr lang="en-US"/>
              <a:t>Click to edit Master text styles</a:t>
            </a:r>
          </a:p>
        </p:txBody>
      </p:sp>
      <p:sp>
        <p:nvSpPr>
          <p:cNvPr id="4" name="Content Placeholder 3"/>
          <p:cNvSpPr>
            <a:spLocks noGrp="1"/>
          </p:cNvSpPr>
          <p:nvPr>
            <p:ph sz="half" idx="2"/>
          </p:nvPr>
        </p:nvSpPr>
        <p:spPr>
          <a:xfrm>
            <a:off x="3527115" y="14028420"/>
            <a:ext cx="21662704"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5923243" y="9414513"/>
            <a:ext cx="21769390" cy="4613907"/>
          </a:xfrm>
        </p:spPr>
        <p:txBody>
          <a:bodyPr anchor="b"/>
          <a:lstStyle>
            <a:lvl1pPr marL="0" indent="0">
              <a:buNone/>
              <a:defRPr sz="13440" b="1"/>
            </a:lvl1pPr>
            <a:lvl2pPr marL="2560320" indent="0">
              <a:buNone/>
              <a:defRPr sz="11200" b="1"/>
            </a:lvl2pPr>
            <a:lvl3pPr marL="5120640" indent="0">
              <a:buNone/>
              <a:defRPr sz="10080" b="1"/>
            </a:lvl3pPr>
            <a:lvl4pPr marL="7680960" indent="0">
              <a:buNone/>
              <a:defRPr sz="8960" b="1"/>
            </a:lvl4pPr>
            <a:lvl5pPr marL="10241280" indent="0">
              <a:buNone/>
              <a:defRPr sz="8960" b="1"/>
            </a:lvl5pPr>
            <a:lvl6pPr marL="12801600" indent="0">
              <a:buNone/>
              <a:defRPr sz="8960" b="1"/>
            </a:lvl6pPr>
            <a:lvl7pPr marL="15361920" indent="0">
              <a:buNone/>
              <a:defRPr sz="8960" b="1"/>
            </a:lvl7pPr>
            <a:lvl8pPr marL="17922240" indent="0">
              <a:buNone/>
              <a:defRPr sz="8960" b="1"/>
            </a:lvl8pPr>
            <a:lvl9pPr marL="20482560" indent="0">
              <a:buNone/>
              <a:defRPr sz="8960" b="1"/>
            </a:lvl9pPr>
          </a:lstStyle>
          <a:p>
            <a:pPr lvl="0"/>
            <a:r>
              <a:rPr lang="en-US"/>
              <a:t>Click to edit Master text styles</a:t>
            </a:r>
          </a:p>
        </p:txBody>
      </p:sp>
      <p:sp>
        <p:nvSpPr>
          <p:cNvPr id="6" name="Content Placeholder 5"/>
          <p:cNvSpPr>
            <a:spLocks noGrp="1"/>
          </p:cNvSpPr>
          <p:nvPr>
            <p:ph sz="quarter" idx="4"/>
          </p:nvPr>
        </p:nvSpPr>
        <p:spPr>
          <a:xfrm>
            <a:off x="25923243" y="14028420"/>
            <a:ext cx="21769390"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5D6BDF-9D0E-4E2B-85B8-D8F4790360C9}" type="datetimeFigureOut">
              <a:rPr lang="en-US" smtClean="0"/>
              <a:t>6/3/20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55944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5D6BDF-9D0E-4E2B-85B8-D8F4790360C9}" type="datetimeFigureOut">
              <a:rPr lang="en-US" smtClean="0"/>
              <a:t>6/3/20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344671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5D6BDF-9D0E-4E2B-85B8-D8F4790360C9}" type="datetimeFigureOut">
              <a:rPr lang="en-US" smtClean="0"/>
              <a:t>6/3/20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9385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560320"/>
            <a:ext cx="16515397" cy="8961120"/>
          </a:xfrm>
        </p:spPr>
        <p:txBody>
          <a:bodyPr anchor="b"/>
          <a:lstStyle>
            <a:lvl1pPr>
              <a:defRPr sz="17920"/>
            </a:lvl1pPr>
          </a:lstStyle>
          <a:p>
            <a:r>
              <a:rPr lang="en-US"/>
              <a:t>Click to edit Master title style</a:t>
            </a:r>
            <a:endParaRPr lang="en-US" dirty="0"/>
          </a:p>
        </p:txBody>
      </p:sp>
      <p:sp>
        <p:nvSpPr>
          <p:cNvPr id="3" name="Content Placeholder 2"/>
          <p:cNvSpPr>
            <a:spLocks noGrp="1"/>
          </p:cNvSpPr>
          <p:nvPr>
            <p:ph idx="1"/>
          </p:nvPr>
        </p:nvSpPr>
        <p:spPr>
          <a:xfrm>
            <a:off x="21769390" y="5529588"/>
            <a:ext cx="25923240" cy="27292300"/>
          </a:xfrm>
        </p:spPr>
        <p:txBody>
          <a:bodyPr/>
          <a:lstStyle>
            <a:lvl1pPr>
              <a:defRPr sz="17920"/>
            </a:lvl1pPr>
            <a:lvl2pPr>
              <a:defRPr sz="15680"/>
            </a:lvl2pPr>
            <a:lvl3pPr>
              <a:defRPr sz="13440"/>
            </a:lvl3pPr>
            <a:lvl4pPr>
              <a:defRPr sz="11200"/>
            </a:lvl4pPr>
            <a:lvl5pPr>
              <a:defRPr sz="11200"/>
            </a:lvl5pPr>
            <a:lvl6pPr>
              <a:defRPr sz="11200"/>
            </a:lvl6pPr>
            <a:lvl7pPr>
              <a:defRPr sz="11200"/>
            </a:lvl7pPr>
            <a:lvl8pPr>
              <a:defRPr sz="11200"/>
            </a:lvl8pPr>
            <a:lvl9pPr>
              <a:defRPr sz="1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527110" y="11521440"/>
            <a:ext cx="16515397" cy="21344893"/>
          </a:xfrm>
        </p:spPr>
        <p:txBody>
          <a:bodyPr/>
          <a:lstStyle>
            <a:lvl1pPr marL="0" indent="0">
              <a:buNone/>
              <a:defRPr sz="8960"/>
            </a:lvl1pPr>
            <a:lvl2pPr marL="2560320" indent="0">
              <a:buNone/>
              <a:defRPr sz="7840"/>
            </a:lvl2pPr>
            <a:lvl3pPr marL="5120640" indent="0">
              <a:buNone/>
              <a:defRPr sz="6720"/>
            </a:lvl3pPr>
            <a:lvl4pPr marL="7680960" indent="0">
              <a:buNone/>
              <a:defRPr sz="5600"/>
            </a:lvl4pPr>
            <a:lvl5pPr marL="10241280" indent="0">
              <a:buNone/>
              <a:defRPr sz="5600"/>
            </a:lvl5pPr>
            <a:lvl6pPr marL="12801600" indent="0">
              <a:buNone/>
              <a:defRPr sz="5600"/>
            </a:lvl6pPr>
            <a:lvl7pPr marL="15361920" indent="0">
              <a:buNone/>
              <a:defRPr sz="5600"/>
            </a:lvl7pPr>
            <a:lvl8pPr marL="17922240" indent="0">
              <a:buNone/>
              <a:defRPr sz="5600"/>
            </a:lvl8pPr>
            <a:lvl9pPr marL="20482560" indent="0">
              <a:buNone/>
              <a:defRPr sz="5600"/>
            </a:lvl9pPr>
          </a:lstStyle>
          <a:p>
            <a:pPr lvl="0"/>
            <a:r>
              <a:rPr lang="en-US"/>
              <a:t>Click to 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6/3/20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404206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560320"/>
            <a:ext cx="16515397" cy="8961120"/>
          </a:xfrm>
        </p:spPr>
        <p:txBody>
          <a:bodyPr anchor="b"/>
          <a:lstStyle>
            <a:lvl1pPr>
              <a:defRPr sz="17920"/>
            </a:lvl1pPr>
          </a:lstStyle>
          <a:p>
            <a:r>
              <a:rPr lang="en-US"/>
              <a:t>Click to edit Master title style</a:t>
            </a:r>
            <a:endParaRPr lang="en-US" dirty="0"/>
          </a:p>
        </p:txBody>
      </p:sp>
      <p:sp>
        <p:nvSpPr>
          <p:cNvPr id="3" name="Picture Placeholder 2"/>
          <p:cNvSpPr>
            <a:spLocks noGrp="1" noChangeAspect="1"/>
          </p:cNvSpPr>
          <p:nvPr>
            <p:ph type="pic" idx="1"/>
          </p:nvPr>
        </p:nvSpPr>
        <p:spPr>
          <a:xfrm>
            <a:off x="21769390" y="5529588"/>
            <a:ext cx="25923240" cy="27292300"/>
          </a:xfrm>
        </p:spPr>
        <p:txBody>
          <a:bodyPr anchor="t"/>
          <a:lstStyle>
            <a:lvl1pPr marL="0" indent="0">
              <a:buNone/>
              <a:defRPr sz="17920"/>
            </a:lvl1pPr>
            <a:lvl2pPr marL="2560320" indent="0">
              <a:buNone/>
              <a:defRPr sz="15680"/>
            </a:lvl2pPr>
            <a:lvl3pPr marL="5120640" indent="0">
              <a:buNone/>
              <a:defRPr sz="13440"/>
            </a:lvl3pPr>
            <a:lvl4pPr marL="7680960" indent="0">
              <a:buNone/>
              <a:defRPr sz="11200"/>
            </a:lvl4pPr>
            <a:lvl5pPr marL="10241280" indent="0">
              <a:buNone/>
              <a:defRPr sz="11200"/>
            </a:lvl5pPr>
            <a:lvl6pPr marL="12801600" indent="0">
              <a:buNone/>
              <a:defRPr sz="11200"/>
            </a:lvl6pPr>
            <a:lvl7pPr marL="15361920" indent="0">
              <a:buNone/>
              <a:defRPr sz="11200"/>
            </a:lvl7pPr>
            <a:lvl8pPr marL="17922240" indent="0">
              <a:buNone/>
              <a:defRPr sz="11200"/>
            </a:lvl8pPr>
            <a:lvl9pPr marL="20482560" indent="0">
              <a:buNone/>
              <a:defRPr sz="11200"/>
            </a:lvl9pPr>
          </a:lstStyle>
          <a:p>
            <a:r>
              <a:rPr lang="en-US"/>
              <a:t>Click icon to add picture</a:t>
            </a:r>
            <a:endParaRPr lang="en-US" dirty="0"/>
          </a:p>
        </p:txBody>
      </p:sp>
      <p:sp>
        <p:nvSpPr>
          <p:cNvPr id="4" name="Text Placeholder 3"/>
          <p:cNvSpPr>
            <a:spLocks noGrp="1"/>
          </p:cNvSpPr>
          <p:nvPr>
            <p:ph type="body" sz="half" idx="2"/>
          </p:nvPr>
        </p:nvSpPr>
        <p:spPr>
          <a:xfrm>
            <a:off x="3527110" y="11521440"/>
            <a:ext cx="16515397" cy="21344893"/>
          </a:xfrm>
        </p:spPr>
        <p:txBody>
          <a:bodyPr/>
          <a:lstStyle>
            <a:lvl1pPr marL="0" indent="0">
              <a:buNone/>
              <a:defRPr sz="8960"/>
            </a:lvl1pPr>
            <a:lvl2pPr marL="2560320" indent="0">
              <a:buNone/>
              <a:defRPr sz="7840"/>
            </a:lvl2pPr>
            <a:lvl3pPr marL="5120640" indent="0">
              <a:buNone/>
              <a:defRPr sz="6720"/>
            </a:lvl3pPr>
            <a:lvl4pPr marL="7680960" indent="0">
              <a:buNone/>
              <a:defRPr sz="5600"/>
            </a:lvl4pPr>
            <a:lvl5pPr marL="10241280" indent="0">
              <a:buNone/>
              <a:defRPr sz="5600"/>
            </a:lvl5pPr>
            <a:lvl6pPr marL="12801600" indent="0">
              <a:buNone/>
              <a:defRPr sz="5600"/>
            </a:lvl6pPr>
            <a:lvl7pPr marL="15361920" indent="0">
              <a:buNone/>
              <a:defRPr sz="5600"/>
            </a:lvl7pPr>
            <a:lvl8pPr marL="17922240" indent="0">
              <a:buNone/>
              <a:defRPr sz="5600"/>
            </a:lvl8pPr>
            <a:lvl9pPr marL="20482560" indent="0">
              <a:buNone/>
              <a:defRPr sz="5600"/>
            </a:lvl9pPr>
          </a:lstStyle>
          <a:p>
            <a:pPr lvl="0"/>
            <a:r>
              <a:rPr lang="en-US"/>
              <a:t>Click to 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6/3/20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392651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108095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644583" y="2044700"/>
            <a:ext cx="11041380"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520443" y="2044700"/>
            <a:ext cx="32484060"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D6BDF-9D0E-4E2B-85B8-D8F4790360C9}" type="datetimeFigureOut">
              <a:rPr lang="en-US" smtClean="0"/>
              <a:t>6/3/20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031480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5" name="Rectangle 14"/>
          <p:cNvSpPr/>
          <p:nvPr userDrawn="1"/>
        </p:nvSpPr>
        <p:spPr>
          <a:xfrm>
            <a:off x="50352960" y="0"/>
            <a:ext cx="853440" cy="384048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endParaRPr lang="en-US" dirty="0"/>
          </a:p>
        </p:txBody>
      </p:sp>
      <p:sp>
        <p:nvSpPr>
          <p:cNvPr id="16" name="Rectangle 15"/>
          <p:cNvSpPr/>
          <p:nvPr userDrawn="1"/>
        </p:nvSpPr>
        <p:spPr>
          <a:xfrm>
            <a:off x="-4" y="0"/>
            <a:ext cx="853440" cy="384048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endParaRPr lang="en-US" dirty="0"/>
          </a:p>
        </p:txBody>
      </p:sp>
      <p:sp>
        <p:nvSpPr>
          <p:cNvPr id="17" name="Rectangle 16"/>
          <p:cNvSpPr/>
          <p:nvPr userDrawn="1"/>
        </p:nvSpPr>
        <p:spPr>
          <a:xfrm>
            <a:off x="0" y="0"/>
            <a:ext cx="51206400" cy="4800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endParaRPr lang="en-US" dirty="0"/>
          </a:p>
        </p:txBody>
      </p:sp>
      <p:sp>
        <p:nvSpPr>
          <p:cNvPr id="18" name="Rectangle 17"/>
          <p:cNvSpPr/>
          <p:nvPr userDrawn="1"/>
        </p:nvSpPr>
        <p:spPr>
          <a:xfrm>
            <a:off x="0" y="33604200"/>
            <a:ext cx="51206400" cy="48006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endParaRPr lang="en-US" dirty="0"/>
          </a:p>
        </p:txBody>
      </p:sp>
      <p:sp>
        <p:nvSpPr>
          <p:cNvPr id="11" name="Instructions"/>
          <p:cNvSpPr/>
          <p:nvPr userDrawn="1"/>
        </p:nvSpPr>
        <p:spPr>
          <a:xfrm>
            <a:off x="-12268200" y="0"/>
            <a:ext cx="11201400" cy="38404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9980" tIns="199980" rIns="199980" bIns="19998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100"/>
              </a:spcAft>
            </a:pPr>
            <a:r>
              <a:rPr lang="en-US" sz="8400" dirty="0">
                <a:solidFill>
                  <a:srgbClr val="7F7F7F"/>
                </a:solidFill>
                <a:latin typeface="Calibri" pitchFamily="34" charset="0"/>
                <a:cs typeface="Calibri" panose="020F0502020204030204" pitchFamily="34" charset="0"/>
              </a:rPr>
              <a:t>Poster Print Size:</a:t>
            </a:r>
            <a:endParaRPr sz="8400" dirty="0">
              <a:solidFill>
                <a:srgbClr val="7F7F7F"/>
              </a:solidFill>
              <a:latin typeface="Calibri" pitchFamily="34" charset="0"/>
              <a:cs typeface="Calibri" panose="020F0502020204030204" pitchFamily="34" charset="0"/>
            </a:endParaRPr>
          </a:p>
          <a:p>
            <a:pPr lvl="0">
              <a:spcBef>
                <a:spcPts val="0"/>
              </a:spcBef>
              <a:spcAft>
                <a:spcPts val="2100"/>
              </a:spcAft>
            </a:pPr>
            <a:r>
              <a:rPr lang="en-US" sz="5700" dirty="0">
                <a:solidFill>
                  <a:srgbClr val="7F7F7F"/>
                </a:solidFill>
                <a:latin typeface="Calibri" pitchFamily="34" charset="0"/>
                <a:cs typeface="Calibri" panose="020F0502020204030204" pitchFamily="34" charset="0"/>
              </a:rPr>
              <a:t>This poster template is 42” high by 56” wide. It can be used to print any poster with a 3:4 aspect ratio.</a:t>
            </a:r>
          </a:p>
          <a:p>
            <a:pPr lvl="0">
              <a:spcBef>
                <a:spcPts val="0"/>
              </a:spcBef>
              <a:spcAft>
                <a:spcPts val="2100"/>
              </a:spcAft>
            </a:pPr>
            <a:r>
              <a:rPr lang="en-US" sz="8400" dirty="0">
                <a:solidFill>
                  <a:srgbClr val="7F7F7F"/>
                </a:solidFill>
                <a:latin typeface="Calibri" pitchFamily="34" charset="0"/>
                <a:cs typeface="Calibri" panose="020F0502020204030204" pitchFamily="34" charset="0"/>
              </a:rPr>
              <a:t>Placeholders</a:t>
            </a:r>
            <a:r>
              <a:rPr sz="8400" dirty="0">
                <a:solidFill>
                  <a:srgbClr val="7F7F7F"/>
                </a:solidFill>
                <a:latin typeface="Calibri" pitchFamily="34" charset="0"/>
                <a:cs typeface="Calibri" panose="020F0502020204030204" pitchFamily="34" charset="0"/>
              </a:rPr>
              <a:t>:</a:t>
            </a:r>
          </a:p>
          <a:p>
            <a:pPr lvl="0">
              <a:spcBef>
                <a:spcPts val="0"/>
              </a:spcBef>
              <a:spcAft>
                <a:spcPts val="2100"/>
              </a:spcAft>
            </a:pPr>
            <a:r>
              <a:rPr sz="5700" dirty="0">
                <a:solidFill>
                  <a:srgbClr val="7F7F7F"/>
                </a:solidFill>
                <a:latin typeface="Calibri" pitchFamily="34" charset="0"/>
                <a:cs typeface="Calibri" panose="020F0502020204030204" pitchFamily="34" charset="0"/>
              </a:rPr>
              <a:t>The </a:t>
            </a:r>
            <a:r>
              <a:rPr lang="en-US" sz="5700" dirty="0">
                <a:solidFill>
                  <a:srgbClr val="7F7F7F"/>
                </a:solidFill>
                <a:latin typeface="Calibri" pitchFamily="34" charset="0"/>
                <a:cs typeface="Calibri" panose="020F0502020204030204" pitchFamily="34" charset="0"/>
              </a:rPr>
              <a:t>various elements included</a:t>
            </a:r>
            <a:r>
              <a:rPr sz="5700" dirty="0">
                <a:solidFill>
                  <a:srgbClr val="7F7F7F"/>
                </a:solidFill>
                <a:latin typeface="Calibri" pitchFamily="34" charset="0"/>
                <a:cs typeface="Calibri" panose="020F0502020204030204" pitchFamily="34" charset="0"/>
              </a:rPr>
              <a:t> in this </a:t>
            </a:r>
            <a:r>
              <a:rPr lang="en-US" sz="5700" dirty="0">
                <a:solidFill>
                  <a:srgbClr val="7F7F7F"/>
                </a:solidFill>
                <a:latin typeface="Calibri" pitchFamily="34" charset="0"/>
                <a:cs typeface="Calibri" panose="020F0502020204030204" pitchFamily="34" charset="0"/>
              </a:rPr>
              <a:t>poster are ones</a:t>
            </a:r>
            <a:r>
              <a:rPr lang="en-US" sz="5700" baseline="0" dirty="0">
                <a:solidFill>
                  <a:srgbClr val="7F7F7F"/>
                </a:solidFill>
                <a:latin typeface="Calibri" pitchFamily="34" charset="0"/>
                <a:cs typeface="Calibri" panose="020F0502020204030204" pitchFamily="34" charset="0"/>
              </a:rPr>
              <a:t> we often see in medical, research, and scientific posters.</a:t>
            </a:r>
            <a:r>
              <a:rPr sz="5700" dirty="0">
                <a:solidFill>
                  <a:srgbClr val="7F7F7F"/>
                </a:solidFill>
                <a:latin typeface="Calibri" pitchFamily="34" charset="0"/>
                <a:cs typeface="Calibri" panose="020F0502020204030204" pitchFamily="34" charset="0"/>
              </a:rPr>
              <a:t> </a:t>
            </a:r>
            <a:r>
              <a:rPr lang="en-US" sz="5700" dirty="0">
                <a:solidFill>
                  <a:srgbClr val="7F7F7F"/>
                </a:solidFill>
                <a:latin typeface="Calibri" pitchFamily="34" charset="0"/>
                <a:cs typeface="Calibri" panose="020F0502020204030204" pitchFamily="34" charset="0"/>
              </a:rPr>
              <a:t>Feel</a:t>
            </a:r>
            <a:r>
              <a:rPr lang="en-US" sz="57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100"/>
              </a:spcAft>
            </a:pPr>
            <a:r>
              <a:rPr lang="en-US" sz="8400" dirty="0">
                <a:solidFill>
                  <a:srgbClr val="7F7F7F"/>
                </a:solidFill>
                <a:latin typeface="Calibri" pitchFamily="34" charset="0"/>
                <a:cs typeface="Calibri" panose="020F0502020204030204" pitchFamily="34" charset="0"/>
              </a:rPr>
              <a:t>Image</a:t>
            </a:r>
            <a:r>
              <a:rPr lang="en-US" sz="8400" baseline="0" dirty="0">
                <a:solidFill>
                  <a:srgbClr val="7F7F7F"/>
                </a:solidFill>
                <a:latin typeface="Calibri" pitchFamily="34" charset="0"/>
                <a:cs typeface="Calibri" panose="020F0502020204030204" pitchFamily="34" charset="0"/>
              </a:rPr>
              <a:t> Quality</a:t>
            </a:r>
            <a:r>
              <a:rPr lang="en-US" sz="8400" dirty="0">
                <a:solidFill>
                  <a:srgbClr val="7F7F7F"/>
                </a:solidFill>
                <a:latin typeface="Calibri" pitchFamily="34" charset="0"/>
                <a:cs typeface="Calibri" panose="020F0502020204030204" pitchFamily="34" charset="0"/>
              </a:rPr>
              <a:t>:</a:t>
            </a:r>
          </a:p>
          <a:p>
            <a:pPr lvl="0">
              <a:spcBef>
                <a:spcPts val="0"/>
              </a:spcBef>
              <a:spcAft>
                <a:spcPts val="2100"/>
              </a:spcAft>
            </a:pPr>
            <a:r>
              <a:rPr lang="en-US" sz="5700" dirty="0">
                <a:solidFill>
                  <a:srgbClr val="7F7F7F"/>
                </a:solidFill>
                <a:latin typeface="Calibri" pitchFamily="34" charset="0"/>
                <a:cs typeface="Calibri" panose="020F0502020204030204" pitchFamily="34" charset="0"/>
              </a:rPr>
              <a:t>You can place digital photos or logo art in your poster file by selecting the </a:t>
            </a:r>
            <a:r>
              <a:rPr lang="en-US" sz="5700" b="1" dirty="0">
                <a:solidFill>
                  <a:srgbClr val="7F7F7F"/>
                </a:solidFill>
                <a:latin typeface="Calibri" pitchFamily="34" charset="0"/>
                <a:cs typeface="Calibri" panose="020F0502020204030204" pitchFamily="34" charset="0"/>
              </a:rPr>
              <a:t>Insert, Picture</a:t>
            </a:r>
            <a:r>
              <a:rPr lang="en-US" sz="57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5700" b="1" dirty="0">
                <a:solidFill>
                  <a:srgbClr val="7F7F7F"/>
                </a:solidFill>
                <a:latin typeface="Calibri" pitchFamily="34" charset="0"/>
                <a:cs typeface="Calibri" panose="020F0502020204030204" pitchFamily="34" charset="0"/>
              </a:rPr>
              <a:t>150-200 pixels per inch in their final printed size</a:t>
            </a:r>
            <a:r>
              <a:rPr lang="en-US" sz="5700" dirty="0">
                <a:solidFill>
                  <a:srgbClr val="7F7F7F"/>
                </a:solidFill>
                <a:latin typeface="Calibri" pitchFamily="34" charset="0"/>
                <a:cs typeface="Calibri" panose="020F0502020204030204" pitchFamily="34" charset="0"/>
              </a:rPr>
              <a:t>. For instance, a 1600 x 1200 pixel</a:t>
            </a:r>
            <a:r>
              <a:rPr lang="en-US" sz="5700" baseline="0" dirty="0">
                <a:solidFill>
                  <a:srgbClr val="7F7F7F"/>
                </a:solidFill>
                <a:latin typeface="Calibri" pitchFamily="34" charset="0"/>
                <a:cs typeface="Calibri" panose="020F0502020204030204" pitchFamily="34" charset="0"/>
              </a:rPr>
              <a:t> photo will usually look fine up to </a:t>
            </a:r>
            <a:r>
              <a:rPr lang="en-US" sz="5700" dirty="0">
                <a:solidFill>
                  <a:srgbClr val="7F7F7F"/>
                </a:solidFill>
                <a:latin typeface="Calibri" pitchFamily="34" charset="0"/>
                <a:cs typeface="Calibri" panose="020F0502020204030204" pitchFamily="34" charset="0"/>
              </a:rPr>
              <a:t>8“-10” wide on your printed poster.</a:t>
            </a:r>
          </a:p>
          <a:p>
            <a:pPr lvl="0">
              <a:spcBef>
                <a:spcPts val="0"/>
              </a:spcBef>
              <a:spcAft>
                <a:spcPts val="2100"/>
              </a:spcAft>
            </a:pPr>
            <a:r>
              <a:rPr lang="en-US" sz="57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100"/>
              </a:spcAft>
            </a:pPr>
            <a:r>
              <a:rPr lang="en-US" sz="57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100"/>
              </a:spcAft>
            </a:pPr>
            <a:br>
              <a:rPr lang="en-US" sz="4200" dirty="0">
                <a:solidFill>
                  <a:srgbClr val="7F7F7F"/>
                </a:solidFill>
                <a:latin typeface="Calibri" pitchFamily="34" charset="0"/>
                <a:cs typeface="Calibri" panose="020F0502020204030204" pitchFamily="34" charset="0"/>
              </a:rPr>
            </a:br>
            <a:r>
              <a:rPr lang="en-US" sz="4200" dirty="0">
                <a:solidFill>
                  <a:srgbClr val="7F7F7F"/>
                </a:solidFill>
                <a:latin typeface="Calibri" pitchFamily="34" charset="0"/>
                <a:cs typeface="Calibri" panose="020F0502020204030204" pitchFamily="34" charset="0"/>
              </a:rPr>
              <a:t>[This sidebar area does not print.]</a:t>
            </a:r>
          </a:p>
        </p:txBody>
      </p:sp>
      <p:grpSp>
        <p:nvGrpSpPr>
          <p:cNvPr id="12" name="Group 11"/>
          <p:cNvGrpSpPr/>
          <p:nvPr userDrawn="1"/>
        </p:nvGrpSpPr>
        <p:grpSpPr>
          <a:xfrm>
            <a:off x="52273200" y="0"/>
            <a:ext cx="11201400" cy="38404800"/>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100"/>
                </a:spcAft>
              </a:pPr>
              <a:r>
                <a:rPr lang="en-US" sz="8400" dirty="0">
                  <a:solidFill>
                    <a:schemeClr val="bg1">
                      <a:lumMod val="50000"/>
                    </a:schemeClr>
                  </a:solidFill>
                  <a:latin typeface="Calibri" pitchFamily="34" charset="0"/>
                  <a:cs typeface="Calibri" panose="020F0502020204030204" pitchFamily="34" charset="0"/>
                </a:rPr>
                <a:t>Change</a:t>
              </a:r>
              <a:r>
                <a:rPr lang="en-US" sz="8400" baseline="0" dirty="0">
                  <a:solidFill>
                    <a:schemeClr val="bg1">
                      <a:lumMod val="50000"/>
                    </a:schemeClr>
                  </a:solidFill>
                  <a:latin typeface="Calibri" pitchFamily="34" charset="0"/>
                  <a:cs typeface="Calibri" panose="020F0502020204030204" pitchFamily="34" charset="0"/>
                </a:rPr>
                <a:t> Color Theme</a:t>
              </a:r>
              <a:r>
                <a:rPr lang="en-US" sz="8400" dirty="0">
                  <a:solidFill>
                    <a:schemeClr val="bg1">
                      <a:lumMod val="50000"/>
                    </a:schemeClr>
                  </a:solidFill>
                  <a:latin typeface="Calibri" pitchFamily="34" charset="0"/>
                  <a:cs typeface="Calibri" panose="020F0502020204030204" pitchFamily="34" charset="0"/>
                </a:rPr>
                <a:t>:</a:t>
              </a:r>
              <a:endParaRPr sz="840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r>
                <a:rPr lang="en-US" sz="57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57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100"/>
                </a:spcAft>
              </a:pPr>
              <a:r>
                <a:rPr lang="en-US" sz="5700" baseline="0" dirty="0">
                  <a:solidFill>
                    <a:schemeClr val="bg1">
                      <a:lumMod val="50000"/>
                    </a:schemeClr>
                  </a:solidFill>
                  <a:latin typeface="Calibri" pitchFamily="34" charset="0"/>
                  <a:cs typeface="Calibri" panose="020F0502020204030204" pitchFamily="34" charset="0"/>
                </a:rPr>
                <a:t>To change the color theme, select the </a:t>
              </a:r>
              <a:r>
                <a:rPr lang="en-US" sz="5700" b="1" baseline="0" dirty="0">
                  <a:solidFill>
                    <a:schemeClr val="bg1">
                      <a:lumMod val="50000"/>
                    </a:schemeClr>
                  </a:solidFill>
                  <a:latin typeface="Calibri" pitchFamily="34" charset="0"/>
                  <a:cs typeface="Calibri" panose="020F0502020204030204" pitchFamily="34" charset="0"/>
                </a:rPr>
                <a:t>Design</a:t>
              </a:r>
              <a:r>
                <a:rPr lang="en-US" sz="5700" baseline="0" dirty="0">
                  <a:solidFill>
                    <a:schemeClr val="bg1">
                      <a:lumMod val="50000"/>
                    </a:schemeClr>
                  </a:solidFill>
                  <a:latin typeface="Calibri" pitchFamily="34" charset="0"/>
                  <a:cs typeface="Calibri" panose="020F0502020204030204" pitchFamily="34" charset="0"/>
                </a:rPr>
                <a:t> tab, then select the </a:t>
              </a:r>
              <a:r>
                <a:rPr lang="en-US" sz="5700" b="1" baseline="0" dirty="0">
                  <a:solidFill>
                    <a:schemeClr val="bg1">
                      <a:lumMod val="50000"/>
                    </a:schemeClr>
                  </a:solidFill>
                  <a:latin typeface="Calibri" pitchFamily="34" charset="0"/>
                  <a:cs typeface="Calibri" panose="020F0502020204030204" pitchFamily="34" charset="0"/>
                </a:rPr>
                <a:t>Colors</a:t>
              </a:r>
              <a:r>
                <a:rPr lang="en-US" sz="57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endParaRPr lang="en-US" sz="57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100"/>
                </a:spcAft>
              </a:pPr>
              <a:r>
                <a:rPr lang="en-US" sz="57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100"/>
                </a:spcAft>
              </a:pPr>
              <a:r>
                <a:rPr lang="en-US" sz="84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100"/>
                </a:spcAft>
              </a:pPr>
              <a:r>
                <a:rPr lang="en-US" sz="5700" dirty="0">
                  <a:solidFill>
                    <a:schemeClr val="bg1">
                      <a:lumMod val="50000"/>
                    </a:schemeClr>
                  </a:solidFill>
                  <a:latin typeface="Calibri" pitchFamily="34" charset="0"/>
                  <a:cs typeface="Calibri" panose="020F0502020204030204" pitchFamily="34" charset="0"/>
                </a:rPr>
                <a:t>Once your poster file is ready, visit</a:t>
              </a:r>
              <a:r>
                <a:rPr lang="en-US" sz="5700" baseline="0" dirty="0">
                  <a:solidFill>
                    <a:schemeClr val="bg1">
                      <a:lumMod val="50000"/>
                    </a:schemeClr>
                  </a:solidFill>
                  <a:latin typeface="Calibri" pitchFamily="34" charset="0"/>
                  <a:cs typeface="Calibri" panose="020F0502020204030204" pitchFamily="34" charset="0"/>
                </a:rPr>
                <a:t> </a:t>
              </a:r>
              <a:r>
                <a:rPr lang="en-US" sz="5700" b="1" baseline="0" dirty="0">
                  <a:solidFill>
                    <a:schemeClr val="bg1">
                      <a:lumMod val="50000"/>
                    </a:schemeClr>
                  </a:solidFill>
                  <a:latin typeface="Calibri" pitchFamily="34" charset="0"/>
                  <a:cs typeface="Calibri" panose="020F0502020204030204" pitchFamily="34" charset="0"/>
                </a:rPr>
                <a:t>www.genigraphics.com</a:t>
              </a:r>
              <a:r>
                <a:rPr lang="en-US" sz="57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100"/>
                </a:spcAft>
              </a:pPr>
              <a:r>
                <a:rPr lang="en-US" sz="57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57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5700" baseline="0" dirty="0">
                  <a:solidFill>
                    <a:schemeClr val="bg1">
                      <a:lumMod val="50000"/>
                    </a:schemeClr>
                  </a:solidFill>
                  <a:latin typeface="Calibri" pitchFamily="34" charset="0"/>
                  <a:cs typeface="Calibri" panose="020F0502020204030204" pitchFamily="34" charset="0"/>
                </a:rPr>
                <a:t>US and Canada:  1-800-790-4001</a:t>
              </a:r>
              <a:br>
                <a:rPr lang="en-US" sz="5700" baseline="0" dirty="0">
                  <a:solidFill>
                    <a:schemeClr val="bg1">
                      <a:lumMod val="50000"/>
                    </a:schemeClr>
                  </a:solidFill>
                  <a:latin typeface="Calibri" pitchFamily="34" charset="0"/>
                  <a:cs typeface="Calibri" panose="020F0502020204030204" pitchFamily="34" charset="0"/>
                </a:rPr>
              </a:br>
              <a:r>
                <a:rPr lang="en-US" sz="57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200" dirty="0">
                  <a:solidFill>
                    <a:schemeClr val="bg1">
                      <a:lumMod val="50000"/>
                    </a:schemeClr>
                  </a:solidFill>
                  <a:latin typeface="Calibri" pitchFamily="34" charset="0"/>
                  <a:cs typeface="Calibri" panose="020F0502020204030204" pitchFamily="34" charset="0"/>
                </a:rPr>
              </a:br>
              <a:r>
                <a:rPr lang="en-US" sz="42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720000" y="38100000"/>
            <a:ext cx="5297435" cy="185928"/>
          </a:xfrm>
          <a:prstGeom prst="rect">
            <a:avLst/>
          </a:prstGeom>
        </p:spPr>
      </p:pic>
    </p:spTree>
    <p:extLst>
      <p:ext uri="{BB962C8B-B14F-4D97-AF65-F5344CB8AC3E}">
        <p14:creationId xmlns:p14="http://schemas.microsoft.com/office/powerpoint/2010/main" val="395853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0440" y="2044708"/>
            <a:ext cx="4416552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520440" y="10223500"/>
            <a:ext cx="4416552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520440" y="35595568"/>
            <a:ext cx="11521440" cy="2044700"/>
          </a:xfrm>
          <a:prstGeom prst="rect">
            <a:avLst/>
          </a:prstGeom>
        </p:spPr>
        <p:txBody>
          <a:bodyPr vert="horz" lIns="91440" tIns="45720" rIns="91440" bIns="45720" rtlCol="0" anchor="ctr"/>
          <a:lstStyle>
            <a:lvl1pPr algn="l">
              <a:defRPr sz="6720">
                <a:solidFill>
                  <a:schemeClr val="tx1">
                    <a:tint val="75000"/>
                  </a:schemeClr>
                </a:solidFill>
              </a:defRPr>
            </a:lvl1pPr>
          </a:lstStyle>
          <a:p>
            <a:fld id="{985D6BDF-9D0E-4E2B-85B8-D8F4790360C9}" type="datetimeFigureOut">
              <a:rPr lang="en-US" smtClean="0"/>
              <a:t>6/3/20</a:t>
            </a:fld>
            <a:endParaRPr lang="en-US" dirty="0"/>
          </a:p>
        </p:txBody>
      </p:sp>
      <p:sp>
        <p:nvSpPr>
          <p:cNvPr id="5" name="Footer Placeholder 4"/>
          <p:cNvSpPr>
            <a:spLocks noGrp="1"/>
          </p:cNvSpPr>
          <p:nvPr>
            <p:ph type="ftr" sz="quarter" idx="3"/>
          </p:nvPr>
        </p:nvSpPr>
        <p:spPr>
          <a:xfrm>
            <a:off x="16962120" y="35595568"/>
            <a:ext cx="17282160" cy="2044700"/>
          </a:xfrm>
          <a:prstGeom prst="rect">
            <a:avLst/>
          </a:prstGeom>
        </p:spPr>
        <p:txBody>
          <a:bodyPr vert="horz" lIns="91440" tIns="45720" rIns="91440" bIns="45720" rtlCol="0" anchor="ctr"/>
          <a:lstStyle>
            <a:lvl1pPr algn="ctr">
              <a:defRPr sz="672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164520" y="35595568"/>
            <a:ext cx="11521440" cy="2044700"/>
          </a:xfrm>
          <a:prstGeom prst="rect">
            <a:avLst/>
          </a:prstGeom>
        </p:spPr>
        <p:txBody>
          <a:bodyPr vert="horz" lIns="91440" tIns="45720" rIns="91440" bIns="45720" rtlCol="0" anchor="ctr"/>
          <a:lstStyle>
            <a:lvl1pPr algn="r">
              <a:defRPr sz="672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3102049921"/>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Lst>
  <p:txStyles>
    <p:titleStyle>
      <a:lvl1pPr algn="l" defTabSz="5120640" rtl="0" eaLnBrk="1" latinLnBrk="0" hangingPunct="1">
        <a:lnSpc>
          <a:spcPct val="90000"/>
        </a:lnSpc>
        <a:spcBef>
          <a:spcPct val="0"/>
        </a:spcBef>
        <a:buNone/>
        <a:defRPr sz="24640" kern="1200">
          <a:solidFill>
            <a:schemeClr val="tx1"/>
          </a:solidFill>
          <a:latin typeface="+mj-lt"/>
          <a:ea typeface="+mj-ea"/>
          <a:cs typeface="+mj-cs"/>
        </a:defRPr>
      </a:lvl1pPr>
    </p:titleStyle>
    <p:bodyStyle>
      <a:lvl1pPr marL="1280160" indent="-1280160" algn="l" defTabSz="5120640" rtl="0" eaLnBrk="1" latinLnBrk="0" hangingPunct="1">
        <a:lnSpc>
          <a:spcPct val="90000"/>
        </a:lnSpc>
        <a:spcBef>
          <a:spcPts val="5600"/>
        </a:spcBef>
        <a:buFont typeface="Arial" panose="020B0604020202020204" pitchFamily="34" charset="0"/>
        <a:buChar char="•"/>
        <a:defRPr sz="15680" kern="1200">
          <a:solidFill>
            <a:schemeClr val="tx1"/>
          </a:solidFill>
          <a:latin typeface="+mn-lt"/>
          <a:ea typeface="+mn-ea"/>
          <a:cs typeface="+mn-cs"/>
        </a:defRPr>
      </a:lvl1pPr>
      <a:lvl2pPr marL="3840480" indent="-1280160" algn="l" defTabSz="5120640" rtl="0" eaLnBrk="1" latinLnBrk="0" hangingPunct="1">
        <a:lnSpc>
          <a:spcPct val="90000"/>
        </a:lnSpc>
        <a:spcBef>
          <a:spcPts val="2800"/>
        </a:spcBef>
        <a:buFont typeface="Arial" panose="020B0604020202020204" pitchFamily="34" charset="0"/>
        <a:buChar char="•"/>
        <a:defRPr sz="13440" kern="1200">
          <a:solidFill>
            <a:schemeClr val="tx1"/>
          </a:solidFill>
          <a:latin typeface="+mn-lt"/>
          <a:ea typeface="+mn-ea"/>
          <a:cs typeface="+mn-cs"/>
        </a:defRPr>
      </a:lvl2pPr>
      <a:lvl3pPr marL="6400800" indent="-1280160" algn="l" defTabSz="5120640" rtl="0" eaLnBrk="1" latinLnBrk="0" hangingPunct="1">
        <a:lnSpc>
          <a:spcPct val="90000"/>
        </a:lnSpc>
        <a:spcBef>
          <a:spcPts val="2800"/>
        </a:spcBef>
        <a:buFont typeface="Arial" panose="020B0604020202020204" pitchFamily="34" charset="0"/>
        <a:buChar char="•"/>
        <a:defRPr sz="11200" kern="1200">
          <a:solidFill>
            <a:schemeClr val="tx1"/>
          </a:solidFill>
          <a:latin typeface="+mn-lt"/>
          <a:ea typeface="+mn-ea"/>
          <a:cs typeface="+mn-cs"/>
        </a:defRPr>
      </a:lvl3pPr>
      <a:lvl4pPr marL="896112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4pPr>
      <a:lvl5pPr marL="1152144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5pPr>
      <a:lvl6pPr marL="1408176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6pPr>
      <a:lvl7pPr marL="1664208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7pPr>
      <a:lvl8pPr marL="1920240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8pPr>
      <a:lvl9pPr marL="2176272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9pPr>
    </p:bodyStyle>
    <p:otherStyle>
      <a:defPPr>
        <a:defRPr lang="en-US"/>
      </a:defPPr>
      <a:lvl1pPr marL="0" algn="l" defTabSz="5120640" rtl="0" eaLnBrk="1" latinLnBrk="0" hangingPunct="1">
        <a:defRPr sz="10080" kern="1200">
          <a:solidFill>
            <a:schemeClr val="tx1"/>
          </a:solidFill>
          <a:latin typeface="+mn-lt"/>
          <a:ea typeface="+mn-ea"/>
          <a:cs typeface="+mn-cs"/>
        </a:defRPr>
      </a:lvl1pPr>
      <a:lvl2pPr marL="2560320" algn="l" defTabSz="5120640" rtl="0" eaLnBrk="1" latinLnBrk="0" hangingPunct="1">
        <a:defRPr sz="10080" kern="1200">
          <a:solidFill>
            <a:schemeClr val="tx1"/>
          </a:solidFill>
          <a:latin typeface="+mn-lt"/>
          <a:ea typeface="+mn-ea"/>
          <a:cs typeface="+mn-cs"/>
        </a:defRPr>
      </a:lvl2pPr>
      <a:lvl3pPr marL="5120640" algn="l" defTabSz="5120640" rtl="0" eaLnBrk="1" latinLnBrk="0" hangingPunct="1">
        <a:defRPr sz="10080" kern="1200">
          <a:solidFill>
            <a:schemeClr val="tx1"/>
          </a:solidFill>
          <a:latin typeface="+mn-lt"/>
          <a:ea typeface="+mn-ea"/>
          <a:cs typeface="+mn-cs"/>
        </a:defRPr>
      </a:lvl3pPr>
      <a:lvl4pPr marL="7680960" algn="l" defTabSz="5120640" rtl="0" eaLnBrk="1" latinLnBrk="0" hangingPunct="1">
        <a:defRPr sz="10080" kern="1200">
          <a:solidFill>
            <a:schemeClr val="tx1"/>
          </a:solidFill>
          <a:latin typeface="+mn-lt"/>
          <a:ea typeface="+mn-ea"/>
          <a:cs typeface="+mn-cs"/>
        </a:defRPr>
      </a:lvl4pPr>
      <a:lvl5pPr marL="10241280" algn="l" defTabSz="5120640" rtl="0" eaLnBrk="1" latinLnBrk="0" hangingPunct="1">
        <a:defRPr sz="10080" kern="1200">
          <a:solidFill>
            <a:schemeClr val="tx1"/>
          </a:solidFill>
          <a:latin typeface="+mn-lt"/>
          <a:ea typeface="+mn-ea"/>
          <a:cs typeface="+mn-cs"/>
        </a:defRPr>
      </a:lvl5pPr>
      <a:lvl6pPr marL="12801600" algn="l" defTabSz="5120640" rtl="0" eaLnBrk="1" latinLnBrk="0" hangingPunct="1">
        <a:defRPr sz="10080" kern="1200">
          <a:solidFill>
            <a:schemeClr val="tx1"/>
          </a:solidFill>
          <a:latin typeface="+mn-lt"/>
          <a:ea typeface="+mn-ea"/>
          <a:cs typeface="+mn-cs"/>
        </a:defRPr>
      </a:lvl6pPr>
      <a:lvl7pPr marL="15361920" algn="l" defTabSz="5120640" rtl="0" eaLnBrk="1" latinLnBrk="0" hangingPunct="1">
        <a:defRPr sz="10080" kern="1200">
          <a:solidFill>
            <a:schemeClr val="tx1"/>
          </a:solidFill>
          <a:latin typeface="+mn-lt"/>
          <a:ea typeface="+mn-ea"/>
          <a:cs typeface="+mn-cs"/>
        </a:defRPr>
      </a:lvl7pPr>
      <a:lvl8pPr marL="17922240" algn="l" defTabSz="5120640" rtl="0" eaLnBrk="1" latinLnBrk="0" hangingPunct="1">
        <a:defRPr sz="10080" kern="1200">
          <a:solidFill>
            <a:schemeClr val="tx1"/>
          </a:solidFill>
          <a:latin typeface="+mn-lt"/>
          <a:ea typeface="+mn-ea"/>
          <a:cs typeface="+mn-cs"/>
        </a:defRPr>
      </a:lvl8pPr>
      <a:lvl9pPr marL="20482560" algn="l" defTabSz="5120640" rtl="0" eaLnBrk="1" latinLnBrk="0" hangingPunct="1">
        <a:defRPr sz="100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s://doi.org/10.1007/BF01320076" TargetMode="Externa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 Box 193">
            <a:extLst>
              <a:ext uri="{FF2B5EF4-FFF2-40B4-BE49-F238E27FC236}">
                <a16:creationId xmlns:a16="http://schemas.microsoft.com/office/drawing/2014/main" id="{87E44B10-335E-E840-AE72-1629051C6318}"/>
              </a:ext>
            </a:extLst>
          </p:cNvPr>
          <p:cNvSpPr txBox="1">
            <a:spLocks noChangeArrowheads="1"/>
          </p:cNvSpPr>
          <p:nvPr/>
        </p:nvSpPr>
        <p:spPr bwMode="auto">
          <a:xfrm>
            <a:off x="34147797" y="6438900"/>
            <a:ext cx="15361920" cy="17558580"/>
          </a:xfrm>
          <a:prstGeom prst="rect">
            <a:avLst/>
          </a:prstGeom>
          <a:solidFill>
            <a:schemeClr val="bg1"/>
          </a:solidFill>
          <a:ln w="12700">
            <a:solidFill>
              <a:schemeClr val="accent1">
                <a:lumMod val="75000"/>
              </a:schemeClr>
            </a:solidFill>
          </a:ln>
          <a:effectLst/>
        </p:spPr>
        <p:txBody>
          <a:bodyPr lIns="159984" tIns="159984" rIns="159984" bIns="159984">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a:p>
            <a:pPr eaLnBrk="1" hangingPunct="1"/>
            <a:endParaRPr lang="en-US" sz="4000" dirty="0">
              <a:latin typeface="Calibri" panose="020F0502020204030204" pitchFamily="34" charset="0"/>
              <a:cs typeface="Calibri" panose="020F0502020204030204" pitchFamily="34" charset="0"/>
            </a:endParaRPr>
          </a:p>
        </p:txBody>
      </p:sp>
      <p:sp>
        <p:nvSpPr>
          <p:cNvPr id="4" name="Text Box 122"/>
          <p:cNvSpPr txBox="1">
            <a:spLocks noChangeArrowheads="1"/>
          </p:cNvSpPr>
          <p:nvPr/>
        </p:nvSpPr>
        <p:spPr bwMode="auto">
          <a:xfrm>
            <a:off x="6400800" y="61579"/>
            <a:ext cx="38404800" cy="326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9984" tIns="399959" rIns="159984" bIns="399959"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8000" dirty="0">
                <a:solidFill>
                  <a:schemeClr val="bg1"/>
                </a:solidFill>
              </a:rPr>
              <a:t>What is the most effective second-language vocabulary learning method?</a:t>
            </a:r>
          </a:p>
          <a:p>
            <a:pPr algn="ctr" eaLnBrk="1" hangingPunct="1"/>
            <a:endParaRPr lang="en-US" sz="8000" b="1" dirty="0">
              <a:solidFill>
                <a:schemeClr val="bg1"/>
              </a:solidFill>
              <a:latin typeface="+mn-lt"/>
            </a:endParaRPr>
          </a:p>
        </p:txBody>
      </p:sp>
      <p:sp>
        <p:nvSpPr>
          <p:cNvPr id="5" name="Text Box 123"/>
          <p:cNvSpPr txBox="1">
            <a:spLocks noChangeArrowheads="1"/>
          </p:cNvSpPr>
          <p:nvPr/>
        </p:nvSpPr>
        <p:spPr bwMode="auto">
          <a:xfrm>
            <a:off x="6400800" y="2136090"/>
            <a:ext cx="3840480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9984" tIns="159984" rIns="159984" bIns="159984"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800" b="1" dirty="0">
                <a:solidFill>
                  <a:schemeClr val="accent3">
                    <a:lumMod val="20000"/>
                    <a:lumOff val="80000"/>
                  </a:schemeClr>
                </a:solidFill>
                <a:latin typeface="+mn-lt"/>
              </a:rPr>
              <a:t>Jason H. Moy</a:t>
            </a:r>
            <a:r>
              <a:rPr lang="en-US" sz="4800" b="1" baseline="30000" dirty="0">
                <a:solidFill>
                  <a:schemeClr val="accent3">
                    <a:lumMod val="20000"/>
                    <a:lumOff val="80000"/>
                  </a:schemeClr>
                </a:solidFill>
                <a:latin typeface="+mn-lt"/>
              </a:rPr>
              <a:t>1</a:t>
            </a:r>
            <a:r>
              <a:rPr lang="en-US" sz="4800" b="1" dirty="0">
                <a:solidFill>
                  <a:schemeClr val="accent3">
                    <a:lumMod val="20000"/>
                    <a:lumOff val="80000"/>
                  </a:schemeClr>
                </a:solidFill>
                <a:latin typeface="+mn-lt"/>
              </a:rPr>
              <a:t>; Timothy C. Rickard</a:t>
            </a:r>
            <a:r>
              <a:rPr lang="en-US" sz="4800" b="1" baseline="30000" dirty="0">
                <a:solidFill>
                  <a:schemeClr val="accent3">
                    <a:lumMod val="20000"/>
                    <a:lumOff val="80000"/>
                  </a:schemeClr>
                </a:solidFill>
                <a:latin typeface="+mn-lt"/>
              </a:rPr>
              <a:t>1</a:t>
            </a:r>
          </a:p>
          <a:p>
            <a:pPr algn="ctr" eaLnBrk="1" hangingPunct="1"/>
            <a:r>
              <a:rPr lang="en-US" sz="4400" baseline="30000" dirty="0">
                <a:solidFill>
                  <a:schemeClr val="accent3">
                    <a:lumMod val="20000"/>
                    <a:lumOff val="80000"/>
                  </a:schemeClr>
                </a:solidFill>
                <a:latin typeface="+mn-lt"/>
              </a:rPr>
              <a:t>1</a:t>
            </a:r>
            <a:r>
              <a:rPr lang="en-US" sz="4400" dirty="0">
                <a:solidFill>
                  <a:schemeClr val="accent3">
                    <a:lumMod val="20000"/>
                    <a:lumOff val="80000"/>
                  </a:schemeClr>
                </a:solidFill>
                <a:latin typeface="+mn-lt"/>
              </a:rPr>
              <a:t>University of California, San Diego</a:t>
            </a:r>
            <a:endParaRPr lang="en-US" sz="4800" dirty="0">
              <a:solidFill>
                <a:schemeClr val="accent3">
                  <a:lumMod val="20000"/>
                  <a:lumOff val="80000"/>
                </a:schemeClr>
              </a:solidFill>
              <a:latin typeface="+mn-lt"/>
            </a:endParaRPr>
          </a:p>
        </p:txBody>
      </p:sp>
      <p:sp>
        <p:nvSpPr>
          <p:cNvPr id="26" name="TextBox 25"/>
          <p:cNvSpPr txBox="1"/>
          <p:nvPr/>
        </p:nvSpPr>
        <p:spPr>
          <a:xfrm>
            <a:off x="1669860" y="34956645"/>
            <a:ext cx="22758400" cy="2560320"/>
          </a:xfrm>
          <a:prstGeom prst="rect">
            <a:avLst/>
          </a:prstGeom>
          <a:noFill/>
        </p:spPr>
        <p:txBody>
          <a:bodyPr wrap="square" lIns="79991" tIns="79991" rIns="79991" bIns="79991" numCol="1" spcCol="399959" rtlCol="0">
            <a:noAutofit/>
          </a:bodyPr>
          <a:lstStyle/>
          <a:p>
            <a:pPr marL="342900" indent="-342900">
              <a:buFont typeface="+mj-lt"/>
              <a:buAutoNum type="arabicPeriod"/>
            </a:pPr>
            <a:r>
              <a:rPr lang="en-US" dirty="0"/>
              <a:t>Carrier, M., &amp; </a:t>
            </a:r>
            <a:r>
              <a:rPr lang="en-US" dirty="0" err="1"/>
              <a:t>Pashler</a:t>
            </a:r>
            <a:r>
              <a:rPr lang="en-US" dirty="0"/>
              <a:t>, H. (1992). The influence of retrieval on retention. </a:t>
            </a:r>
            <a:r>
              <a:rPr lang="en-US" i="1" dirty="0"/>
              <a:t>Memory &amp; Cognition</a:t>
            </a:r>
            <a:r>
              <a:rPr lang="en-US" dirty="0"/>
              <a:t>, </a:t>
            </a:r>
            <a:r>
              <a:rPr lang="en-US" i="1" dirty="0"/>
              <a:t>20</a:t>
            </a:r>
            <a:r>
              <a:rPr lang="en-US" dirty="0"/>
              <a:t>(6), 633–642. https://</a:t>
            </a:r>
            <a:r>
              <a:rPr lang="en-US" dirty="0" err="1"/>
              <a:t>doi.org</a:t>
            </a:r>
            <a:r>
              <a:rPr lang="en-US" dirty="0"/>
              <a:t>/10.3758/BF03202713</a:t>
            </a:r>
          </a:p>
          <a:p>
            <a:pPr marL="342900" indent="-342900">
              <a:buFont typeface="+mj-lt"/>
              <a:buAutoNum type="arabicPeriod"/>
            </a:pPr>
            <a:r>
              <a:rPr lang="en-US" dirty="0"/>
              <a:t>Clark, J. M., &amp; </a:t>
            </a:r>
            <a:r>
              <a:rPr lang="en-US" dirty="0" err="1"/>
              <a:t>Paivio</a:t>
            </a:r>
            <a:r>
              <a:rPr lang="en-US" dirty="0"/>
              <a:t>, A. (1991). Dual coding theory and education. </a:t>
            </a:r>
            <a:r>
              <a:rPr lang="en-US" i="1" dirty="0"/>
              <a:t>Educational Psychology Review</a:t>
            </a:r>
            <a:r>
              <a:rPr lang="en-US" dirty="0"/>
              <a:t>, </a:t>
            </a:r>
            <a:r>
              <a:rPr lang="en-US" i="1" dirty="0"/>
              <a:t>3</a:t>
            </a:r>
            <a:r>
              <a:rPr lang="en-US" dirty="0"/>
              <a:t>(3), 149–210. </a:t>
            </a:r>
            <a:r>
              <a:rPr lang="en-US" dirty="0">
                <a:hlinkClick r:id="rId2"/>
              </a:rPr>
              <a:t>https://doi.org/10.1007/BF01320076</a:t>
            </a:r>
            <a:endParaRPr lang="en-US" dirty="0"/>
          </a:p>
          <a:p>
            <a:pPr marL="342900" indent="-342900">
              <a:buFont typeface="+mj-lt"/>
              <a:buAutoNum type="arabicPeriod"/>
            </a:pPr>
            <a:r>
              <a:rPr lang="en-US" dirty="0"/>
              <a:t>Griffin, G., &amp; Harley, T. A. (1996). List learning of second language vocabulary. </a:t>
            </a:r>
            <a:r>
              <a:rPr lang="en-US" i="1" dirty="0"/>
              <a:t>Applied Psycholinguistics</a:t>
            </a:r>
            <a:r>
              <a:rPr lang="en-US" dirty="0"/>
              <a:t>, </a:t>
            </a:r>
            <a:r>
              <a:rPr lang="en-US" i="1" dirty="0"/>
              <a:t>17</a:t>
            </a:r>
            <a:r>
              <a:rPr lang="en-US" dirty="0"/>
              <a:t>(4), 443–460. https://</a:t>
            </a:r>
            <a:r>
              <a:rPr lang="en-US" dirty="0" err="1"/>
              <a:t>doi.org</a:t>
            </a:r>
            <a:r>
              <a:rPr lang="en-US" dirty="0"/>
              <a:t>/10.1017/s0142716400008195 </a:t>
            </a:r>
          </a:p>
          <a:p>
            <a:pPr marL="342900" indent="-342900">
              <a:buFont typeface="+mj-lt"/>
              <a:buAutoNum type="arabicPeriod"/>
            </a:pPr>
            <a:r>
              <a:rPr lang="en-US" dirty="0" err="1"/>
              <a:t>Mondria</a:t>
            </a:r>
            <a:r>
              <a:rPr lang="en-US" dirty="0"/>
              <a:t>, J. A., &amp; Wiersma, B. (2004). Receptive, productive, and receptive + productive L2 vocabulary learning: what difference does it make? In P. </a:t>
            </a:r>
            <a:r>
              <a:rPr lang="en-US" dirty="0" err="1"/>
              <a:t>Bogaards</a:t>
            </a:r>
            <a:r>
              <a:rPr lang="en-US" dirty="0"/>
              <a:t> &amp; B. Laufer-</a:t>
            </a:r>
            <a:r>
              <a:rPr lang="en-US" dirty="0" err="1"/>
              <a:t>Dvorkin</a:t>
            </a:r>
            <a:r>
              <a:rPr lang="en-US" dirty="0"/>
              <a:t> (Eds.), </a:t>
            </a:r>
            <a:r>
              <a:rPr lang="en-US" i="1" dirty="0"/>
              <a:t>Vocabulary in a second language: Selection, acquisition, and testing, </a:t>
            </a:r>
            <a:r>
              <a:rPr lang="en-US" dirty="0"/>
              <a:t>(pp. 79–100). https://</a:t>
            </a:r>
            <a:r>
              <a:rPr lang="en-US" dirty="0" err="1"/>
              <a:t>doi.org</a:t>
            </a:r>
            <a:r>
              <a:rPr lang="en-US" dirty="0"/>
              <a:t>/10.1075/lllt.10.08mon </a:t>
            </a:r>
          </a:p>
          <a:p>
            <a:pPr marL="342900" indent="-342900">
              <a:buFont typeface="+mj-lt"/>
              <a:buAutoNum type="arabicPeriod"/>
            </a:pPr>
            <a:r>
              <a:rPr lang="en-US" dirty="0"/>
              <a:t>Reed, S. K. (2012). </a:t>
            </a:r>
            <a:r>
              <a:rPr lang="en-US" i="1" dirty="0"/>
              <a:t>Cognition: Theories and Applications</a:t>
            </a:r>
            <a:r>
              <a:rPr lang="en-US" dirty="0"/>
              <a:t>. CENGAGE </a:t>
            </a:r>
            <a:r>
              <a:rPr lang="en-US"/>
              <a:t>learning.</a:t>
            </a:r>
            <a:br>
              <a:rPr lang="en-US" dirty="0"/>
            </a:br>
            <a:endParaRPr lang="en-US" sz="1600" dirty="0"/>
          </a:p>
          <a:p>
            <a:pPr marL="342900" indent="-342900">
              <a:buFont typeface="+mj-lt"/>
              <a:buAutoNum type="arabicPeriod"/>
            </a:pPr>
            <a:endParaRPr lang="en-US" sz="1600" dirty="0"/>
          </a:p>
          <a:p>
            <a:pPr marL="399959" indent="-399959">
              <a:buFont typeface="+mj-lt"/>
              <a:buAutoNum type="arabicPeriod"/>
            </a:pPr>
            <a:endParaRPr lang="en-US" sz="1600" dirty="0"/>
          </a:p>
        </p:txBody>
      </p:sp>
      <p:sp>
        <p:nvSpPr>
          <p:cNvPr id="27" name="TextBox 26"/>
          <p:cNvSpPr txBox="1"/>
          <p:nvPr/>
        </p:nvSpPr>
        <p:spPr>
          <a:xfrm>
            <a:off x="1727770" y="33951496"/>
            <a:ext cx="3311574" cy="911770"/>
          </a:xfrm>
          <a:prstGeom prst="rect">
            <a:avLst/>
          </a:prstGeom>
          <a:noFill/>
        </p:spPr>
        <p:txBody>
          <a:bodyPr wrap="none" lIns="79991" tIns="39996" rIns="79991" bIns="39996" rtlCol="0">
            <a:spAutoFit/>
          </a:bodyPr>
          <a:lstStyle/>
          <a:p>
            <a:r>
              <a:rPr lang="en-US" sz="5400" b="1" dirty="0"/>
              <a:t>References</a:t>
            </a:r>
          </a:p>
        </p:txBody>
      </p:sp>
      <p:sp>
        <p:nvSpPr>
          <p:cNvPr id="33" name="Rectangle 32"/>
          <p:cNvSpPr/>
          <p:nvPr/>
        </p:nvSpPr>
        <p:spPr>
          <a:xfrm>
            <a:off x="1596543" y="5694297"/>
            <a:ext cx="15361920" cy="8001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r>
              <a:rPr lang="en-US" sz="5400" b="1" dirty="0">
                <a:solidFill>
                  <a:schemeClr val="accent3">
                    <a:lumMod val="20000"/>
                    <a:lumOff val="80000"/>
                  </a:schemeClr>
                </a:solidFill>
              </a:rPr>
              <a:t>Introduction</a:t>
            </a:r>
          </a:p>
        </p:txBody>
      </p:sp>
      <p:sp>
        <p:nvSpPr>
          <p:cNvPr id="13" name="Text Box 192"/>
          <p:cNvSpPr txBox="1">
            <a:spLocks noChangeArrowheads="1"/>
          </p:cNvSpPr>
          <p:nvPr/>
        </p:nvSpPr>
        <p:spPr bwMode="auto">
          <a:xfrm>
            <a:off x="17922240" y="6400800"/>
            <a:ext cx="15361920" cy="26791877"/>
          </a:xfrm>
          <a:prstGeom prst="rect">
            <a:avLst/>
          </a:prstGeom>
          <a:solidFill>
            <a:schemeClr val="bg1"/>
          </a:solidFill>
          <a:ln w="12700">
            <a:solidFill>
              <a:schemeClr val="accent1">
                <a:lumMod val="75000"/>
              </a:schemeClr>
            </a:solidFill>
          </a:ln>
          <a:effectLst/>
        </p:spPr>
        <p:txBody>
          <a:bodyPr lIns="159984" tIns="159984" rIns="159984" bIns="159984">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4000" dirty="0">
                <a:latin typeface="Calibri" pitchFamily="34" charset="0"/>
              </a:rPr>
              <a:t>Participants: </a:t>
            </a:r>
          </a:p>
          <a:p>
            <a:pPr marL="571500" indent="-571500" algn="just" eaLnBrk="1" hangingPunct="1">
              <a:buFont typeface="Arial" panose="020B0604020202020204" pitchFamily="34" charset="0"/>
              <a:buChar char="•"/>
            </a:pPr>
            <a:r>
              <a:rPr lang="en-US" sz="4000" dirty="0">
                <a:latin typeface="Calibri" pitchFamily="34" charset="0"/>
              </a:rPr>
              <a:t>103 Chinese undergraduate student at UCSD </a:t>
            </a:r>
          </a:p>
          <a:p>
            <a:pPr algn="just" eaLnBrk="1" hangingPunct="1"/>
            <a:endParaRPr lang="en-US" sz="4000" dirty="0">
              <a:latin typeface="Calibri" pitchFamily="34" charset="0"/>
            </a:endParaRPr>
          </a:p>
          <a:p>
            <a:pPr algn="just" eaLnBrk="1" hangingPunct="1"/>
            <a:r>
              <a:rPr lang="en-US" sz="4000" dirty="0">
                <a:latin typeface="Calibri" pitchFamily="34" charset="0"/>
              </a:rPr>
              <a:t>Material: </a:t>
            </a:r>
          </a:p>
          <a:p>
            <a:pPr marL="571500" indent="-571500" algn="just" eaLnBrk="1" hangingPunct="1">
              <a:buFont typeface="Arial" panose="020B0604020202020204" pitchFamily="34" charset="0"/>
              <a:buChar char="•"/>
            </a:pPr>
            <a:r>
              <a:rPr lang="en-US" sz="4000" dirty="0">
                <a:latin typeface="Calibri" pitchFamily="34" charset="0"/>
              </a:rPr>
              <a:t>48 English terms were selected from a GRE vocabulary book </a:t>
            </a:r>
          </a:p>
          <a:p>
            <a:pPr marL="571500" indent="-571500" algn="just" eaLnBrk="1" hangingPunct="1">
              <a:buFont typeface="Arial" panose="020B0604020202020204" pitchFamily="34" charset="0"/>
              <a:buChar char="•"/>
            </a:pPr>
            <a:r>
              <a:rPr lang="en-US" sz="4000" dirty="0">
                <a:latin typeface="Calibri" pitchFamily="34" charset="0"/>
              </a:rPr>
              <a:t>Those terms were translated into Chinese using the Oxford English-Chinese Dictionary </a:t>
            </a:r>
          </a:p>
          <a:p>
            <a:pPr marL="571500" indent="-571500" algn="just" eaLnBrk="1" hangingPunct="1">
              <a:buFont typeface="Arial" panose="020B0604020202020204" pitchFamily="34" charset="0"/>
              <a:buChar char="•"/>
            </a:pPr>
            <a:endParaRPr lang="en-US" sz="4000" dirty="0">
              <a:latin typeface="Calibri" pitchFamily="34" charset="0"/>
            </a:endParaRPr>
          </a:p>
          <a:p>
            <a:pPr algn="just" eaLnBrk="1" hangingPunct="1"/>
            <a:r>
              <a:rPr lang="en-US" sz="4000" dirty="0">
                <a:latin typeface="Calibri" pitchFamily="34" charset="0"/>
              </a:rPr>
              <a:t>Procedure: </a:t>
            </a:r>
          </a:p>
          <a:p>
            <a:pPr marL="571500" indent="-571500" eaLnBrk="1" hangingPunct="1">
              <a:buFont typeface="Arial" panose="020B0604020202020204" pitchFamily="34" charset="0"/>
              <a:buChar char="•"/>
            </a:pPr>
            <a:r>
              <a:rPr lang="en-US" sz="4000" dirty="0">
                <a:latin typeface="Calibri" pitchFamily="34" charset="0"/>
              </a:rPr>
              <a:t>In the initial study phase, participants saw the Chinese and English words together to familiar with all the word pairs </a:t>
            </a:r>
          </a:p>
          <a:p>
            <a:pPr marL="571500" indent="-571500" eaLnBrk="1" hangingPunct="1">
              <a:buFont typeface="Arial" panose="020B0604020202020204" pitchFamily="34" charset="0"/>
              <a:buChar char="•"/>
            </a:pPr>
            <a:endParaRPr lang="en-US" sz="4000" dirty="0">
              <a:latin typeface="Calibri" pitchFamily="34" charset="0"/>
            </a:endParaRPr>
          </a:p>
          <a:p>
            <a:pPr marL="571500" indent="-571500" eaLnBrk="1" hangingPunct="1">
              <a:buFont typeface="Arial" panose="020B0604020202020204" pitchFamily="34" charset="0"/>
              <a:buChar char="•"/>
            </a:pPr>
            <a:r>
              <a:rPr lang="en-US" sz="4000" dirty="0">
                <a:latin typeface="Calibri" pitchFamily="34" charset="0"/>
              </a:rPr>
              <a:t>In the training phase, participants will train in 4 different methods (productive, receptive, picture + productive, restudy) </a:t>
            </a:r>
          </a:p>
          <a:p>
            <a:pPr marL="571500" indent="-571500" eaLnBrk="1" hangingPunct="1">
              <a:buFont typeface="Arial" panose="020B0604020202020204" pitchFamily="34" charset="0"/>
              <a:buChar char="•"/>
            </a:pPr>
            <a:endParaRPr lang="en-US" sz="4000" dirty="0">
              <a:latin typeface="Calibri" pitchFamily="34" charset="0"/>
            </a:endParaRPr>
          </a:p>
          <a:p>
            <a:pPr marL="571500" indent="-571500" eaLnBrk="1" hangingPunct="1">
              <a:buFont typeface="Arial" panose="020B0604020202020204" pitchFamily="34" charset="0"/>
              <a:buChar char="•"/>
            </a:pPr>
            <a:r>
              <a:rPr lang="en-US" sz="4000" dirty="0">
                <a:latin typeface="Calibri" pitchFamily="34" charset="0"/>
              </a:rPr>
              <a:t>Productive (Chinese </a:t>
            </a:r>
            <a:r>
              <a:rPr lang="en-US" sz="4000" dirty="0">
                <a:latin typeface="Calibri" pitchFamily="34" charset="0"/>
                <a:sym typeface="Wingdings" pitchFamily="2" charset="2"/>
              </a:rPr>
              <a:t> English); Receptive (English  Chinese); Picture + Productive (Chinese + Picture  English)</a:t>
            </a:r>
            <a:endParaRPr lang="en-US" sz="4000" dirty="0">
              <a:latin typeface="Calibri" pitchFamily="34" charset="0"/>
            </a:endParaRPr>
          </a:p>
          <a:p>
            <a:pPr marL="571500" indent="-571500"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r>
              <a:rPr lang="en-US" sz="4000" dirty="0">
                <a:latin typeface="Calibri" pitchFamily="34" charset="0"/>
              </a:rPr>
              <a:t>After 48 hours, participants return to take either the productive or the receptive final test </a:t>
            </a: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algn="just" eaLnBrk="1" hangingPunct="1"/>
            <a:endParaRPr lang="en-US" sz="4000" dirty="0">
              <a:latin typeface="Calibri" pitchFamily="34" charset="0"/>
            </a:endParaRPr>
          </a:p>
          <a:p>
            <a:pPr algn="just" eaLnBrk="1" hangingPunct="1"/>
            <a:endParaRPr lang="en-US" sz="4000" dirty="0">
              <a:latin typeface="Calibri" pitchFamily="34" charset="0"/>
            </a:endParaRPr>
          </a:p>
          <a:p>
            <a:pPr algn="just" eaLnBrk="1" hangingPunct="1"/>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a:p>
            <a:pPr marL="571500" indent="-571500" algn="just" eaLnBrk="1" hangingPunct="1">
              <a:buFont typeface="Arial" panose="020B0604020202020204" pitchFamily="34" charset="0"/>
              <a:buChar char="•"/>
            </a:pPr>
            <a:endParaRPr lang="en-US" sz="4000" dirty="0">
              <a:latin typeface="Calibri" pitchFamily="34" charset="0"/>
            </a:endParaRPr>
          </a:p>
        </p:txBody>
      </p:sp>
      <p:sp>
        <p:nvSpPr>
          <p:cNvPr id="34" name="Rectangle 33"/>
          <p:cNvSpPr/>
          <p:nvPr/>
        </p:nvSpPr>
        <p:spPr>
          <a:xfrm>
            <a:off x="17922240" y="5600700"/>
            <a:ext cx="15361920" cy="8001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r>
              <a:rPr lang="en-US" sz="5400" b="1" dirty="0">
                <a:solidFill>
                  <a:schemeClr val="accent3">
                    <a:lumMod val="20000"/>
                    <a:lumOff val="80000"/>
                  </a:schemeClr>
                </a:solidFill>
              </a:rPr>
              <a:t>Methods and Materials</a:t>
            </a:r>
          </a:p>
        </p:txBody>
      </p:sp>
      <p:sp>
        <p:nvSpPr>
          <p:cNvPr id="14" name="Text Box 193"/>
          <p:cNvSpPr txBox="1">
            <a:spLocks noChangeArrowheads="1"/>
          </p:cNvSpPr>
          <p:nvPr/>
        </p:nvSpPr>
        <p:spPr bwMode="auto">
          <a:xfrm>
            <a:off x="34116322" y="25437270"/>
            <a:ext cx="15361920" cy="7709730"/>
          </a:xfrm>
          <a:prstGeom prst="rect">
            <a:avLst/>
          </a:prstGeom>
          <a:solidFill>
            <a:schemeClr val="bg1"/>
          </a:solidFill>
          <a:ln w="12700">
            <a:solidFill>
              <a:schemeClr val="accent1">
                <a:lumMod val="75000"/>
              </a:schemeClr>
            </a:solidFill>
          </a:ln>
          <a:effectLst/>
        </p:spPr>
        <p:txBody>
          <a:bodyPr lIns="159984" tIns="159984" rIns="159984" bIns="159984">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742950" indent="-742950" eaLnBrk="1" hangingPunct="1">
              <a:buFont typeface="Arial" panose="020B0604020202020204" pitchFamily="34" charset="0"/>
              <a:buChar char="•"/>
            </a:pPr>
            <a:r>
              <a:rPr lang="en-US" sz="4000" dirty="0">
                <a:latin typeface="Calibri" pitchFamily="34" charset="0"/>
              </a:rPr>
              <a:t>Retention rate is higher for training utilizing test format than restudy control. </a:t>
            </a:r>
          </a:p>
          <a:p>
            <a:pPr marL="742950" indent="-742950" eaLnBrk="1" hangingPunct="1">
              <a:buFont typeface="Arial" panose="020B0604020202020204" pitchFamily="34" charset="0"/>
              <a:buChar char="•"/>
            </a:pPr>
            <a:endParaRPr lang="en-US" sz="4000" dirty="0">
              <a:latin typeface="Calibri" panose="020F0502020204030204" pitchFamily="34" charset="0"/>
              <a:cs typeface="Calibri" panose="020F0502020204030204" pitchFamily="34" charset="0"/>
            </a:endParaRPr>
          </a:p>
          <a:p>
            <a:pPr marL="742950" indent="-742950" eaLnBrk="1" hangingPunct="1">
              <a:buFont typeface="Arial" panose="020B0604020202020204" pitchFamily="34" charset="0"/>
              <a:buChar char="•"/>
            </a:pPr>
            <a:r>
              <a:rPr lang="en-US" sz="4000" dirty="0">
                <a:latin typeface="Calibri" panose="020F0502020204030204" pitchFamily="34" charset="0"/>
                <a:cs typeface="Calibri" panose="020F0502020204030204" pitchFamily="34" charset="0"/>
              </a:rPr>
              <a:t>Participants gain receptive knowledge from productive training, but we have no evidence that they gain productive knowledge from receptive training. </a:t>
            </a:r>
          </a:p>
          <a:p>
            <a:pPr marL="742950" indent="-742950" eaLnBrk="1" hangingPunct="1">
              <a:buFont typeface="Arial" panose="020B0604020202020204" pitchFamily="34" charset="0"/>
              <a:buChar char="•"/>
            </a:pPr>
            <a:endParaRPr lang="en-US" sz="4000" dirty="0">
              <a:latin typeface="Calibri" panose="020F0502020204030204" pitchFamily="34" charset="0"/>
              <a:cs typeface="Calibri" panose="020F0502020204030204" pitchFamily="34" charset="0"/>
            </a:endParaRPr>
          </a:p>
          <a:p>
            <a:pPr marL="742950" indent="-742950" eaLnBrk="1" hangingPunct="1">
              <a:buFont typeface="Arial" panose="020B0604020202020204" pitchFamily="34" charset="0"/>
              <a:buChar char="•"/>
            </a:pPr>
            <a:r>
              <a:rPr lang="en-US" sz="4000" dirty="0">
                <a:latin typeface="Calibri" panose="020F0502020204030204" pitchFamily="34" charset="0"/>
                <a:cs typeface="Calibri" panose="020F0502020204030204" pitchFamily="34" charset="0"/>
              </a:rPr>
              <a:t>Adding a pictorial cue to productive training may be beneficial compared to productive training alone.  </a:t>
            </a:r>
          </a:p>
          <a:p>
            <a:pPr marL="742950" indent="-742950" eaLnBrk="1" hangingPunct="1">
              <a:buFont typeface="Arial" panose="020B0604020202020204" pitchFamily="34" charset="0"/>
              <a:buChar char="•"/>
            </a:pPr>
            <a:endParaRPr lang="en-US" sz="4000" dirty="0">
              <a:latin typeface="Calibri" panose="020F0502020204030204" pitchFamily="34" charset="0"/>
              <a:cs typeface="Calibri" panose="020F0502020204030204" pitchFamily="34" charset="0"/>
            </a:endParaRPr>
          </a:p>
          <a:p>
            <a:pPr marL="742950" indent="-742950" eaLnBrk="1" hangingPunct="1">
              <a:buFont typeface="Arial" panose="020B0604020202020204" pitchFamily="34" charset="0"/>
              <a:buChar char="•"/>
            </a:pPr>
            <a:r>
              <a:rPr lang="en-US" sz="4000" dirty="0">
                <a:latin typeface="Calibri" panose="020F0502020204030204" pitchFamily="34" charset="0"/>
                <a:cs typeface="Calibri" panose="020F0502020204030204" pitchFamily="34" charset="0"/>
              </a:rPr>
              <a:t>Future study may want to examine whether adding more cues (e.g. sound) will also be beneficial. </a:t>
            </a:r>
          </a:p>
        </p:txBody>
      </p:sp>
      <p:sp>
        <p:nvSpPr>
          <p:cNvPr id="36" name="Rectangle 35"/>
          <p:cNvSpPr/>
          <p:nvPr/>
        </p:nvSpPr>
        <p:spPr>
          <a:xfrm>
            <a:off x="34061400" y="24650700"/>
            <a:ext cx="15361920" cy="8001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r>
              <a:rPr lang="en-US" sz="5400" b="1" dirty="0">
                <a:solidFill>
                  <a:schemeClr val="accent3">
                    <a:lumMod val="20000"/>
                    <a:lumOff val="80000"/>
                  </a:schemeClr>
                </a:solidFill>
              </a:rPr>
              <a:t>Discussion &amp; Future Direction</a:t>
            </a:r>
          </a:p>
        </p:txBody>
      </p:sp>
      <p:sp>
        <p:nvSpPr>
          <p:cNvPr id="11" name="Text Box 190"/>
          <p:cNvSpPr txBox="1">
            <a:spLocks noChangeArrowheads="1"/>
          </p:cNvSpPr>
          <p:nvPr/>
        </p:nvSpPr>
        <p:spPr bwMode="auto">
          <a:xfrm>
            <a:off x="1596542" y="6479357"/>
            <a:ext cx="15361920" cy="18174133"/>
          </a:xfrm>
          <a:prstGeom prst="rect">
            <a:avLst/>
          </a:prstGeom>
          <a:solidFill>
            <a:schemeClr val="bg1"/>
          </a:solidFill>
          <a:ln w="12700">
            <a:solidFill>
              <a:schemeClr val="accent1">
                <a:lumMod val="75000"/>
              </a:schemeClr>
            </a:solidFill>
          </a:ln>
          <a:effectLst/>
        </p:spPr>
        <p:txBody>
          <a:bodyPr lIns="159984" tIns="159984" rIns="159984" bIns="159984">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571500" indent="-571500" eaLnBrk="1" hangingPunct="1">
              <a:buFont typeface="Arial" panose="020B0604020202020204" pitchFamily="34" charset="0"/>
              <a:buChar char="•"/>
            </a:pPr>
            <a:r>
              <a:rPr lang="en-US" sz="4000" dirty="0">
                <a:latin typeface="Calibri" panose="020F0502020204030204" pitchFamily="34" charset="0"/>
                <a:cs typeface="Calibri" panose="020F0502020204030204" pitchFamily="34" charset="0"/>
              </a:rPr>
              <a:t>Past research suggested training in a test format is better than restudy control (e.g. Carrier &amp; </a:t>
            </a:r>
            <a:r>
              <a:rPr lang="en-US" sz="4000" dirty="0" err="1">
                <a:latin typeface="Calibri" panose="020F0502020204030204" pitchFamily="34" charset="0"/>
                <a:cs typeface="Calibri" panose="020F0502020204030204" pitchFamily="34" charset="0"/>
              </a:rPr>
              <a:t>Pashler</a:t>
            </a:r>
            <a:r>
              <a:rPr lang="en-US" sz="4000" dirty="0">
                <a:latin typeface="Calibri" panose="020F0502020204030204" pitchFamily="34" charset="0"/>
                <a:cs typeface="Calibri" panose="020F0502020204030204" pitchFamily="34" charset="0"/>
              </a:rPr>
              <a:t>, 1992). However, no one had empirically tested whether the theory applied in learning second language vocabulary </a:t>
            </a:r>
          </a:p>
          <a:p>
            <a:pPr marL="571500" indent="-571500" eaLnBrk="1" hangingPunct="1">
              <a:buFont typeface="Arial" panose="020B0604020202020204" pitchFamily="34" charset="0"/>
              <a:buChar char="•"/>
            </a:pPr>
            <a:endParaRPr lang="en-US" sz="4000" dirty="0">
              <a:latin typeface="Calibri" panose="020F0502020204030204" pitchFamily="34" charset="0"/>
              <a:cs typeface="Calibri" panose="020F0502020204030204" pitchFamily="34" charset="0"/>
            </a:endParaRPr>
          </a:p>
          <a:p>
            <a:pPr marL="571500" indent="-571500" eaLnBrk="1" hangingPunct="1">
              <a:buFont typeface="Arial" panose="020B0604020202020204" pitchFamily="34" charset="0"/>
              <a:buChar char="•"/>
            </a:pPr>
            <a:r>
              <a:rPr lang="en-US" sz="4000" dirty="0">
                <a:latin typeface="Calibri" panose="020F0502020204030204" pitchFamily="34" charset="0"/>
                <a:cs typeface="Calibri" panose="020F0502020204030204" pitchFamily="34" charset="0"/>
              </a:rPr>
              <a:t>Past research suggested training productively (or receptively) lead to substantial receptive (or productive) knowledge (e.g. </a:t>
            </a:r>
            <a:r>
              <a:rPr lang="en-US" sz="4000" dirty="0" err="1">
                <a:latin typeface="Calibri" panose="020F0502020204030204" pitchFamily="34" charset="0"/>
                <a:cs typeface="Calibri" panose="020F0502020204030204" pitchFamily="34" charset="0"/>
              </a:rPr>
              <a:t>Mondria</a:t>
            </a:r>
            <a:r>
              <a:rPr lang="en-US" sz="4000" dirty="0">
                <a:latin typeface="Calibri" panose="020F0502020204030204" pitchFamily="34" charset="0"/>
                <a:cs typeface="Calibri" panose="020F0502020204030204" pitchFamily="34" charset="0"/>
              </a:rPr>
              <a:t> &amp; Wiersma, 2004; Griffin &amp; Harley, 1996). Their argument was based on the finding that people were able to recall some target words when they were trained receptively but tested productively, or vice versa. Since the participants did not know any of the target words prior to the study, any knowledge of the target word must come from the training itself. However, their evidence is not sufficient to support that argument since it is possible the mere exposure to the word pair, instead of training, made participants learned the words. Therefore, it is necessary to compare the training condition with a restudy control to determine whether their argument is correct or not. </a:t>
            </a:r>
          </a:p>
          <a:p>
            <a:pPr marL="571500" indent="-571500" eaLnBrk="1" hangingPunct="1">
              <a:buFont typeface="Arial" panose="020B0604020202020204" pitchFamily="34" charset="0"/>
              <a:buChar char="•"/>
            </a:pPr>
            <a:endParaRPr lang="en-US" sz="4000" dirty="0">
              <a:latin typeface="Calibri" panose="020F0502020204030204" pitchFamily="34" charset="0"/>
              <a:cs typeface="Calibri" panose="020F0502020204030204" pitchFamily="34" charset="0"/>
            </a:endParaRPr>
          </a:p>
          <a:p>
            <a:pPr marL="571500" indent="-571500" eaLnBrk="1" hangingPunct="1">
              <a:buFont typeface="Arial" panose="020B0604020202020204" pitchFamily="34" charset="0"/>
              <a:buChar char="•"/>
            </a:pPr>
            <a:r>
              <a:rPr lang="en-US" sz="4000" dirty="0">
                <a:latin typeface="Calibri" panose="020F0502020204030204" pitchFamily="34" charset="0"/>
                <a:cs typeface="Calibri" panose="020F0502020204030204" pitchFamily="34" charset="0"/>
              </a:rPr>
              <a:t>In the present study, we also added a picture + productive training condition. This is motivated by the dual coding theory (Clark &amp; </a:t>
            </a:r>
            <a:r>
              <a:rPr lang="en-US" sz="4000" dirty="0" err="1">
                <a:latin typeface="Calibri" panose="020F0502020204030204" pitchFamily="34" charset="0"/>
                <a:cs typeface="Calibri" panose="020F0502020204030204" pitchFamily="34" charset="0"/>
              </a:rPr>
              <a:t>Paivio</a:t>
            </a:r>
            <a:r>
              <a:rPr lang="en-US" sz="4000" dirty="0">
                <a:latin typeface="Calibri" panose="020F0502020204030204" pitchFamily="34" charset="0"/>
                <a:cs typeface="Calibri" panose="020F0502020204030204" pitchFamily="34" charset="0"/>
              </a:rPr>
              <a:t>, 1991; Reed, 2012). Dual coding theory dictate that there are two systems in memory, one specialized in coding non-verbal object information (e.g. picture), the other specialized in coding verbal object information (e.g. words). The two systems function independently, meaning that a person can forget one code without forgetting the other. Therefore, if we allow people to code the target words using both systems, it may have higher retention rate than coding using only one system.  </a:t>
            </a:r>
          </a:p>
        </p:txBody>
      </p:sp>
      <p:sp>
        <p:nvSpPr>
          <p:cNvPr id="45" name="Rectangle 44"/>
          <p:cNvSpPr/>
          <p:nvPr/>
        </p:nvSpPr>
        <p:spPr>
          <a:xfrm>
            <a:off x="34137599" y="5562600"/>
            <a:ext cx="15361920" cy="8001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r>
              <a:rPr lang="en-US" sz="5400" b="1" dirty="0">
                <a:solidFill>
                  <a:schemeClr val="accent3">
                    <a:lumMod val="20000"/>
                    <a:lumOff val="80000"/>
                  </a:schemeClr>
                </a:solidFill>
              </a:rPr>
              <a:t>Results</a:t>
            </a:r>
          </a:p>
        </p:txBody>
      </p:sp>
      <p:sp>
        <p:nvSpPr>
          <p:cNvPr id="38" name="Rectangle 37">
            <a:extLst>
              <a:ext uri="{FF2B5EF4-FFF2-40B4-BE49-F238E27FC236}">
                <a16:creationId xmlns:a16="http://schemas.microsoft.com/office/drawing/2014/main" id="{F169BDAE-FE13-8442-8C5A-7C5B7798BDF5}"/>
              </a:ext>
            </a:extLst>
          </p:cNvPr>
          <p:cNvSpPr/>
          <p:nvPr/>
        </p:nvSpPr>
        <p:spPr>
          <a:xfrm>
            <a:off x="18099704" y="24712115"/>
            <a:ext cx="3048000" cy="2223537"/>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EA94460A-26CB-0541-8FD9-082E4911A89F}"/>
              </a:ext>
            </a:extLst>
          </p:cNvPr>
          <p:cNvSpPr txBox="1"/>
          <p:nvPr/>
        </p:nvSpPr>
        <p:spPr>
          <a:xfrm>
            <a:off x="23701818" y="21047806"/>
            <a:ext cx="3725699" cy="1077218"/>
          </a:xfrm>
          <a:prstGeom prst="rect">
            <a:avLst/>
          </a:prstGeom>
          <a:noFill/>
        </p:spPr>
        <p:txBody>
          <a:bodyPr wrap="none" rtlCol="0">
            <a:spAutoFit/>
          </a:bodyPr>
          <a:lstStyle/>
          <a:p>
            <a:pPr algn="ctr"/>
            <a:r>
              <a:rPr lang="en-US" sz="3600" b="1" dirty="0"/>
              <a:t>Initial Study Phase</a:t>
            </a:r>
          </a:p>
          <a:p>
            <a:pPr algn="ctr"/>
            <a:r>
              <a:rPr lang="en-US" sz="2800" dirty="0"/>
              <a:t>48-word pairs</a:t>
            </a:r>
          </a:p>
        </p:txBody>
      </p:sp>
      <p:sp>
        <p:nvSpPr>
          <p:cNvPr id="41" name="Rectangle 40">
            <a:extLst>
              <a:ext uri="{FF2B5EF4-FFF2-40B4-BE49-F238E27FC236}">
                <a16:creationId xmlns:a16="http://schemas.microsoft.com/office/drawing/2014/main" id="{DCF15FD7-FE90-2947-B1CD-C9C6F74B3A76}"/>
              </a:ext>
            </a:extLst>
          </p:cNvPr>
          <p:cNvSpPr/>
          <p:nvPr/>
        </p:nvSpPr>
        <p:spPr>
          <a:xfrm>
            <a:off x="22214559" y="20574000"/>
            <a:ext cx="6700219" cy="2215273"/>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4850B1AF-8ADB-B84C-A1FB-5925C592A82A}"/>
              </a:ext>
            </a:extLst>
          </p:cNvPr>
          <p:cNvSpPr txBox="1"/>
          <p:nvPr/>
        </p:nvSpPr>
        <p:spPr>
          <a:xfrm>
            <a:off x="17881990" y="24935105"/>
            <a:ext cx="3459301" cy="1631216"/>
          </a:xfrm>
          <a:prstGeom prst="rect">
            <a:avLst/>
          </a:prstGeom>
          <a:noFill/>
        </p:spPr>
        <p:txBody>
          <a:bodyPr wrap="square" rtlCol="0">
            <a:spAutoFit/>
          </a:bodyPr>
          <a:lstStyle/>
          <a:p>
            <a:pPr algn="ctr"/>
            <a:r>
              <a:rPr lang="en-US" sz="3600" b="1" dirty="0"/>
              <a:t>Productive</a:t>
            </a:r>
          </a:p>
          <a:p>
            <a:pPr algn="ctr"/>
            <a:r>
              <a:rPr lang="en-US" sz="3600" b="1" dirty="0"/>
              <a:t> </a:t>
            </a:r>
            <a:r>
              <a:rPr lang="en-US" sz="3600" dirty="0"/>
              <a:t>Training</a:t>
            </a:r>
          </a:p>
          <a:p>
            <a:pPr algn="ctr"/>
            <a:r>
              <a:rPr lang="en-US" sz="2800" dirty="0"/>
              <a:t>12-word pairs</a:t>
            </a:r>
          </a:p>
        </p:txBody>
      </p:sp>
      <p:sp>
        <p:nvSpPr>
          <p:cNvPr id="48" name="Rectangle 47">
            <a:extLst>
              <a:ext uri="{FF2B5EF4-FFF2-40B4-BE49-F238E27FC236}">
                <a16:creationId xmlns:a16="http://schemas.microsoft.com/office/drawing/2014/main" id="{C13B032B-9996-1F48-9EC6-FE2264AE1212}"/>
              </a:ext>
            </a:extLst>
          </p:cNvPr>
          <p:cNvSpPr/>
          <p:nvPr/>
        </p:nvSpPr>
        <p:spPr>
          <a:xfrm>
            <a:off x="22157719" y="24712116"/>
            <a:ext cx="3048000" cy="220249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4" name="TextBox 53">
            <a:extLst>
              <a:ext uri="{FF2B5EF4-FFF2-40B4-BE49-F238E27FC236}">
                <a16:creationId xmlns:a16="http://schemas.microsoft.com/office/drawing/2014/main" id="{2CF10C31-32BA-4D4F-935D-728386CD3B12}"/>
              </a:ext>
            </a:extLst>
          </p:cNvPr>
          <p:cNvSpPr txBox="1"/>
          <p:nvPr/>
        </p:nvSpPr>
        <p:spPr>
          <a:xfrm>
            <a:off x="21940005" y="24935105"/>
            <a:ext cx="3459301" cy="1631216"/>
          </a:xfrm>
          <a:prstGeom prst="rect">
            <a:avLst/>
          </a:prstGeom>
          <a:noFill/>
        </p:spPr>
        <p:txBody>
          <a:bodyPr wrap="square" rtlCol="0">
            <a:spAutoFit/>
          </a:bodyPr>
          <a:lstStyle/>
          <a:p>
            <a:pPr algn="ctr"/>
            <a:r>
              <a:rPr lang="en-US" sz="3600" b="1" dirty="0"/>
              <a:t>Receptive</a:t>
            </a:r>
          </a:p>
          <a:p>
            <a:pPr algn="ctr"/>
            <a:r>
              <a:rPr lang="en-US" sz="3600" b="1" dirty="0"/>
              <a:t> </a:t>
            </a:r>
            <a:r>
              <a:rPr lang="en-US" sz="3600" dirty="0"/>
              <a:t>Training</a:t>
            </a:r>
          </a:p>
          <a:p>
            <a:pPr algn="ctr"/>
            <a:r>
              <a:rPr lang="en-US" sz="2800" dirty="0"/>
              <a:t>12-word pairs</a:t>
            </a:r>
          </a:p>
        </p:txBody>
      </p:sp>
      <p:sp>
        <p:nvSpPr>
          <p:cNvPr id="55" name="Rectangle 54">
            <a:extLst>
              <a:ext uri="{FF2B5EF4-FFF2-40B4-BE49-F238E27FC236}">
                <a16:creationId xmlns:a16="http://schemas.microsoft.com/office/drawing/2014/main" id="{F83459BE-3D0F-8044-B792-358898780591}"/>
              </a:ext>
            </a:extLst>
          </p:cNvPr>
          <p:cNvSpPr/>
          <p:nvPr/>
        </p:nvSpPr>
        <p:spPr>
          <a:xfrm>
            <a:off x="26098007" y="24691076"/>
            <a:ext cx="3048000" cy="2223537"/>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6" name="TextBox 55">
            <a:extLst>
              <a:ext uri="{FF2B5EF4-FFF2-40B4-BE49-F238E27FC236}">
                <a16:creationId xmlns:a16="http://schemas.microsoft.com/office/drawing/2014/main" id="{561AF2A2-7E6B-0244-A9D7-5D2BD0C5FED0}"/>
              </a:ext>
            </a:extLst>
          </p:cNvPr>
          <p:cNvSpPr txBox="1"/>
          <p:nvPr/>
        </p:nvSpPr>
        <p:spPr>
          <a:xfrm>
            <a:off x="25880293" y="24914066"/>
            <a:ext cx="3459301" cy="1631216"/>
          </a:xfrm>
          <a:prstGeom prst="rect">
            <a:avLst/>
          </a:prstGeom>
          <a:noFill/>
        </p:spPr>
        <p:txBody>
          <a:bodyPr wrap="square" rtlCol="0">
            <a:spAutoFit/>
          </a:bodyPr>
          <a:lstStyle/>
          <a:p>
            <a:pPr algn="ctr"/>
            <a:r>
              <a:rPr lang="en-US" sz="3600" b="1" dirty="0"/>
              <a:t>Productive + Picture</a:t>
            </a:r>
          </a:p>
          <a:p>
            <a:pPr algn="ctr"/>
            <a:r>
              <a:rPr lang="en-US" sz="2800" dirty="0"/>
              <a:t>12-word pairs</a:t>
            </a:r>
          </a:p>
        </p:txBody>
      </p:sp>
      <p:sp>
        <p:nvSpPr>
          <p:cNvPr id="57" name="Rectangle 56">
            <a:extLst>
              <a:ext uri="{FF2B5EF4-FFF2-40B4-BE49-F238E27FC236}">
                <a16:creationId xmlns:a16="http://schemas.microsoft.com/office/drawing/2014/main" id="{0009E624-5D72-8949-8B10-03B04FE27E5E}"/>
              </a:ext>
            </a:extLst>
          </p:cNvPr>
          <p:cNvSpPr/>
          <p:nvPr/>
        </p:nvSpPr>
        <p:spPr>
          <a:xfrm>
            <a:off x="29978169" y="24663134"/>
            <a:ext cx="3048000" cy="2223536"/>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8" name="TextBox 57">
            <a:extLst>
              <a:ext uri="{FF2B5EF4-FFF2-40B4-BE49-F238E27FC236}">
                <a16:creationId xmlns:a16="http://schemas.microsoft.com/office/drawing/2014/main" id="{A3CE8C17-AA8F-5E44-BB5B-A10E8DCD20E5}"/>
              </a:ext>
            </a:extLst>
          </p:cNvPr>
          <p:cNvSpPr txBox="1"/>
          <p:nvPr/>
        </p:nvSpPr>
        <p:spPr>
          <a:xfrm>
            <a:off x="29744721" y="24935105"/>
            <a:ext cx="3459301" cy="1631216"/>
          </a:xfrm>
          <a:prstGeom prst="rect">
            <a:avLst/>
          </a:prstGeom>
          <a:noFill/>
        </p:spPr>
        <p:txBody>
          <a:bodyPr wrap="square" rtlCol="0">
            <a:spAutoFit/>
          </a:bodyPr>
          <a:lstStyle/>
          <a:p>
            <a:pPr algn="ctr"/>
            <a:r>
              <a:rPr lang="en-US" sz="3600" b="1" dirty="0"/>
              <a:t>Restudy</a:t>
            </a:r>
          </a:p>
          <a:p>
            <a:pPr algn="ctr"/>
            <a:r>
              <a:rPr lang="en-US" sz="3600" b="1" dirty="0"/>
              <a:t> </a:t>
            </a:r>
            <a:r>
              <a:rPr lang="en-US" sz="3600" dirty="0"/>
              <a:t>Training</a:t>
            </a:r>
          </a:p>
          <a:p>
            <a:pPr algn="ctr"/>
            <a:r>
              <a:rPr lang="en-US" sz="2800" dirty="0"/>
              <a:t>12-word pairs</a:t>
            </a:r>
          </a:p>
        </p:txBody>
      </p:sp>
      <p:cxnSp>
        <p:nvCxnSpPr>
          <p:cNvPr id="9" name="Straight Connector 8">
            <a:extLst>
              <a:ext uri="{FF2B5EF4-FFF2-40B4-BE49-F238E27FC236}">
                <a16:creationId xmlns:a16="http://schemas.microsoft.com/office/drawing/2014/main" id="{170A0025-0D99-ED4B-B5F9-6AA1044D50C1}"/>
              </a:ext>
            </a:extLst>
          </p:cNvPr>
          <p:cNvCxnSpPr>
            <a:cxnSpLocks/>
          </p:cNvCxnSpPr>
          <p:nvPr/>
        </p:nvCxnSpPr>
        <p:spPr>
          <a:xfrm>
            <a:off x="25626108" y="22789273"/>
            <a:ext cx="0" cy="889260"/>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55E57EF5-81F0-8C4F-9DA2-31247D01AB41}"/>
              </a:ext>
            </a:extLst>
          </p:cNvPr>
          <p:cNvCxnSpPr>
            <a:cxnSpLocks/>
            <a:endCxn id="38" idx="0"/>
          </p:cNvCxnSpPr>
          <p:nvPr/>
        </p:nvCxnSpPr>
        <p:spPr>
          <a:xfrm>
            <a:off x="19623704" y="23742492"/>
            <a:ext cx="0" cy="969623"/>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4EB25FA1-78DB-8544-AEFE-A22394B7CEDC}"/>
              </a:ext>
            </a:extLst>
          </p:cNvPr>
          <p:cNvCxnSpPr>
            <a:cxnSpLocks/>
          </p:cNvCxnSpPr>
          <p:nvPr/>
        </p:nvCxnSpPr>
        <p:spPr>
          <a:xfrm>
            <a:off x="23669655" y="23742492"/>
            <a:ext cx="0" cy="969623"/>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57B9DC34-FB75-2747-B950-8361A4F62D81}"/>
              </a:ext>
            </a:extLst>
          </p:cNvPr>
          <p:cNvCxnSpPr>
            <a:cxnSpLocks/>
          </p:cNvCxnSpPr>
          <p:nvPr/>
        </p:nvCxnSpPr>
        <p:spPr>
          <a:xfrm>
            <a:off x="27629789" y="23721453"/>
            <a:ext cx="0" cy="969623"/>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875DB052-048F-7245-8C4F-B5A1BCB985B4}"/>
              </a:ext>
            </a:extLst>
          </p:cNvPr>
          <p:cNvCxnSpPr>
            <a:cxnSpLocks/>
          </p:cNvCxnSpPr>
          <p:nvPr/>
        </p:nvCxnSpPr>
        <p:spPr>
          <a:xfrm>
            <a:off x="31445590" y="23721453"/>
            <a:ext cx="0" cy="969623"/>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A94B8256-C842-9046-B83D-C24391866D2F}"/>
              </a:ext>
            </a:extLst>
          </p:cNvPr>
          <p:cNvCxnSpPr>
            <a:cxnSpLocks/>
          </p:cNvCxnSpPr>
          <p:nvPr/>
        </p:nvCxnSpPr>
        <p:spPr>
          <a:xfrm>
            <a:off x="19611640" y="26914613"/>
            <a:ext cx="0" cy="969623"/>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2F4F9342-0854-6A4A-BFD8-57F6EF005CC5}"/>
              </a:ext>
            </a:extLst>
          </p:cNvPr>
          <p:cNvCxnSpPr>
            <a:cxnSpLocks/>
          </p:cNvCxnSpPr>
          <p:nvPr/>
        </p:nvCxnSpPr>
        <p:spPr>
          <a:xfrm>
            <a:off x="23648993" y="26935652"/>
            <a:ext cx="0" cy="969623"/>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3D465BB8-22BC-D542-BEE0-B4E32D8E4D8A}"/>
              </a:ext>
            </a:extLst>
          </p:cNvPr>
          <p:cNvCxnSpPr>
            <a:cxnSpLocks/>
          </p:cNvCxnSpPr>
          <p:nvPr/>
        </p:nvCxnSpPr>
        <p:spPr>
          <a:xfrm>
            <a:off x="27609943" y="26935652"/>
            <a:ext cx="0" cy="969623"/>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D8433A0F-69A6-B546-B9A6-DB8CB83F925F}"/>
              </a:ext>
            </a:extLst>
          </p:cNvPr>
          <p:cNvCxnSpPr>
            <a:cxnSpLocks/>
          </p:cNvCxnSpPr>
          <p:nvPr/>
        </p:nvCxnSpPr>
        <p:spPr>
          <a:xfrm>
            <a:off x="31486435" y="26914613"/>
            <a:ext cx="0" cy="969623"/>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42874BAD-74CD-5C49-9D75-B8F2FD6B26BA}"/>
              </a:ext>
            </a:extLst>
          </p:cNvPr>
          <p:cNvCxnSpPr>
            <a:cxnSpLocks/>
          </p:cNvCxnSpPr>
          <p:nvPr/>
        </p:nvCxnSpPr>
        <p:spPr>
          <a:xfrm>
            <a:off x="25626108" y="27898990"/>
            <a:ext cx="0" cy="1138644"/>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74205A73-5513-6E40-9FB3-D735C03EA0EC}"/>
              </a:ext>
            </a:extLst>
          </p:cNvPr>
          <p:cNvSpPr txBox="1"/>
          <p:nvPr/>
        </p:nvSpPr>
        <p:spPr>
          <a:xfrm>
            <a:off x="23200764" y="29409114"/>
            <a:ext cx="4850687" cy="1631216"/>
          </a:xfrm>
          <a:prstGeom prst="rect">
            <a:avLst/>
          </a:prstGeom>
          <a:noFill/>
        </p:spPr>
        <p:txBody>
          <a:bodyPr wrap="none" rtlCol="0">
            <a:spAutoFit/>
          </a:bodyPr>
          <a:lstStyle/>
          <a:p>
            <a:pPr algn="ctr"/>
            <a:r>
              <a:rPr lang="en-US" sz="3600" b="1" dirty="0"/>
              <a:t>Productive or Receptive </a:t>
            </a:r>
          </a:p>
          <a:p>
            <a:pPr algn="ctr"/>
            <a:r>
              <a:rPr lang="en-US" sz="3600" b="1" dirty="0"/>
              <a:t>Final Test</a:t>
            </a:r>
          </a:p>
          <a:p>
            <a:pPr algn="ctr"/>
            <a:r>
              <a:rPr lang="en-US" sz="2800" dirty="0"/>
              <a:t>48-word pairs</a:t>
            </a:r>
          </a:p>
        </p:txBody>
      </p:sp>
      <p:sp>
        <p:nvSpPr>
          <p:cNvPr id="72" name="Rectangle 71">
            <a:extLst>
              <a:ext uri="{FF2B5EF4-FFF2-40B4-BE49-F238E27FC236}">
                <a16:creationId xmlns:a16="http://schemas.microsoft.com/office/drawing/2014/main" id="{3C22A8EC-8382-3442-AABA-2F8AE97C33CE}"/>
              </a:ext>
            </a:extLst>
          </p:cNvPr>
          <p:cNvSpPr/>
          <p:nvPr/>
        </p:nvSpPr>
        <p:spPr>
          <a:xfrm>
            <a:off x="22484632" y="29070565"/>
            <a:ext cx="6256589" cy="2245505"/>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79" name="Picture 78" descr="A screenshot of a cell phone&#10;&#10;Description automatically generated">
            <a:extLst>
              <a:ext uri="{FF2B5EF4-FFF2-40B4-BE49-F238E27FC236}">
                <a16:creationId xmlns:a16="http://schemas.microsoft.com/office/drawing/2014/main" id="{6B9E448F-280B-6548-9F41-9159D2492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32167" y="7046395"/>
            <a:ext cx="14719374" cy="8085324"/>
          </a:xfrm>
          <a:prstGeom prst="rect">
            <a:avLst/>
          </a:prstGeom>
        </p:spPr>
      </p:pic>
      <p:pic>
        <p:nvPicPr>
          <p:cNvPr id="85" name="Picture 84" descr="A screenshot of a cell phone&#10;&#10;Description automatically generated">
            <a:extLst>
              <a:ext uri="{FF2B5EF4-FFF2-40B4-BE49-F238E27FC236}">
                <a16:creationId xmlns:a16="http://schemas.microsoft.com/office/drawing/2014/main" id="{AB474300-8338-FE4A-A12C-23BFF784E1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32167" y="15131719"/>
            <a:ext cx="14719374" cy="8051439"/>
          </a:xfrm>
          <a:prstGeom prst="rect">
            <a:avLst/>
          </a:prstGeom>
        </p:spPr>
      </p:pic>
      <p:cxnSp>
        <p:nvCxnSpPr>
          <p:cNvPr id="87" name="Straight Connector 86">
            <a:extLst>
              <a:ext uri="{FF2B5EF4-FFF2-40B4-BE49-F238E27FC236}">
                <a16:creationId xmlns:a16="http://schemas.microsoft.com/office/drawing/2014/main" id="{E737F64C-3514-1F4E-851B-C15B7E739CC2}"/>
              </a:ext>
            </a:extLst>
          </p:cNvPr>
          <p:cNvCxnSpPr/>
          <p:nvPr/>
        </p:nvCxnSpPr>
        <p:spPr>
          <a:xfrm>
            <a:off x="19623704" y="23721453"/>
            <a:ext cx="11821886" cy="0"/>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7DEBC9CA-BA05-924B-A888-3D6D8A8DF35E}"/>
              </a:ext>
            </a:extLst>
          </p:cNvPr>
          <p:cNvCxnSpPr/>
          <p:nvPr/>
        </p:nvCxnSpPr>
        <p:spPr>
          <a:xfrm>
            <a:off x="19611640" y="27869389"/>
            <a:ext cx="11821886" cy="0"/>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89" name="Rectangle 88">
            <a:extLst>
              <a:ext uri="{FF2B5EF4-FFF2-40B4-BE49-F238E27FC236}">
                <a16:creationId xmlns:a16="http://schemas.microsoft.com/office/drawing/2014/main" id="{3B33F41F-5B39-A344-84E4-D96A88B1139D}"/>
              </a:ext>
            </a:extLst>
          </p:cNvPr>
          <p:cNvSpPr/>
          <p:nvPr/>
        </p:nvSpPr>
        <p:spPr>
          <a:xfrm>
            <a:off x="1596543" y="25908000"/>
            <a:ext cx="15361920" cy="8001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79991" tIns="39996" rIns="79991" bIns="39996" rtlCol="0" anchor="ctr"/>
          <a:lstStyle/>
          <a:p>
            <a:pPr algn="ctr"/>
            <a:r>
              <a:rPr lang="en-US" sz="5400" b="1" dirty="0">
                <a:solidFill>
                  <a:schemeClr val="accent3">
                    <a:lumMod val="20000"/>
                    <a:lumOff val="80000"/>
                  </a:schemeClr>
                </a:solidFill>
              </a:rPr>
              <a:t>Objective</a:t>
            </a:r>
          </a:p>
        </p:txBody>
      </p:sp>
      <p:sp>
        <p:nvSpPr>
          <p:cNvPr id="91" name="Text Box 190">
            <a:extLst>
              <a:ext uri="{FF2B5EF4-FFF2-40B4-BE49-F238E27FC236}">
                <a16:creationId xmlns:a16="http://schemas.microsoft.com/office/drawing/2014/main" id="{28166D96-8F2C-4546-9304-15CB2EC46AD9}"/>
              </a:ext>
            </a:extLst>
          </p:cNvPr>
          <p:cNvSpPr txBox="1">
            <a:spLocks noChangeArrowheads="1"/>
          </p:cNvSpPr>
          <p:nvPr/>
        </p:nvSpPr>
        <p:spPr bwMode="auto">
          <a:xfrm>
            <a:off x="1599835" y="26696670"/>
            <a:ext cx="15361920" cy="6478624"/>
          </a:xfrm>
          <a:prstGeom prst="rect">
            <a:avLst/>
          </a:prstGeom>
          <a:solidFill>
            <a:schemeClr val="bg1"/>
          </a:solidFill>
          <a:ln w="12700">
            <a:solidFill>
              <a:schemeClr val="accent1">
                <a:lumMod val="75000"/>
              </a:schemeClr>
            </a:solidFill>
          </a:ln>
          <a:effectLst/>
        </p:spPr>
        <p:txBody>
          <a:bodyPr lIns="159984" tIns="159984" rIns="159984" bIns="159984">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571500" indent="-571500" eaLnBrk="1" hangingPunct="1">
              <a:buFont typeface="Arial" panose="020B0604020202020204" pitchFamily="34" charset="0"/>
              <a:buChar char="•"/>
            </a:pPr>
            <a:r>
              <a:rPr lang="en-US" sz="4000" dirty="0">
                <a:latin typeface="+mn-lt"/>
              </a:rPr>
              <a:t>Investigate whether retention rate is higher using test-format training compared to restudy control </a:t>
            </a:r>
          </a:p>
          <a:p>
            <a:pPr marL="571500" indent="-571500" eaLnBrk="1" hangingPunct="1">
              <a:buFont typeface="Arial" panose="020B0604020202020204" pitchFamily="34" charset="0"/>
              <a:buChar char="•"/>
            </a:pPr>
            <a:endParaRPr lang="en-US" sz="4000" dirty="0">
              <a:latin typeface="+mn-lt"/>
            </a:endParaRPr>
          </a:p>
          <a:p>
            <a:pPr marL="571500" indent="-571500" eaLnBrk="1" hangingPunct="1">
              <a:buFont typeface="Arial" panose="020B0604020202020204" pitchFamily="34" charset="0"/>
              <a:buChar char="•"/>
            </a:pPr>
            <a:r>
              <a:rPr lang="en-US" sz="4000" dirty="0">
                <a:latin typeface="Calibri" panose="020F0502020204030204" pitchFamily="34" charset="0"/>
                <a:cs typeface="Calibri" panose="020F0502020204030204" pitchFamily="34" charset="0"/>
              </a:rPr>
              <a:t>Investigate whether training in a reversed testing format compared to the final test (e.g. productive training on a receptive final test) may remain beneficial compared to restudy control</a:t>
            </a:r>
          </a:p>
          <a:p>
            <a:pPr marL="571500" indent="-571500" eaLnBrk="1" hangingPunct="1">
              <a:buFont typeface="Arial" panose="020B0604020202020204" pitchFamily="34" charset="0"/>
              <a:buChar char="•"/>
            </a:pPr>
            <a:endParaRPr lang="en-US" sz="4000" dirty="0">
              <a:latin typeface="Calibri" panose="020F0502020204030204" pitchFamily="34" charset="0"/>
              <a:cs typeface="Calibri" panose="020F0502020204030204" pitchFamily="34" charset="0"/>
            </a:endParaRPr>
          </a:p>
          <a:p>
            <a:pPr marL="571500" indent="-571500" eaLnBrk="1" hangingPunct="1">
              <a:buFont typeface="Arial" panose="020B0604020202020204" pitchFamily="34" charset="0"/>
              <a:buChar char="•"/>
            </a:pPr>
            <a:r>
              <a:rPr lang="en-US" sz="4000" dirty="0">
                <a:latin typeface="Calibri" panose="020F0502020204030204" pitchFamily="34" charset="0"/>
                <a:cs typeface="Calibri" panose="020F0502020204030204" pitchFamily="34" charset="0"/>
              </a:rPr>
              <a:t>Investigate whether adding a picture to productive training condition is better than productive training alone. </a:t>
            </a:r>
          </a:p>
          <a:p>
            <a:pPr marL="571500" indent="-571500" eaLnBrk="1" hangingPunct="1">
              <a:buFont typeface="Arial" panose="020B0604020202020204" pitchFamily="34" charset="0"/>
              <a:buChar char="•"/>
            </a:pPr>
            <a:endParaRPr lang="en-US" sz="4000" dirty="0">
              <a:latin typeface="Calibri" panose="020F0502020204030204" pitchFamily="34" charset="0"/>
              <a:cs typeface="Calibri" panose="020F0502020204030204" pitchFamily="34" charset="0"/>
            </a:endParaRPr>
          </a:p>
        </p:txBody>
      </p:sp>
      <p:pic>
        <p:nvPicPr>
          <p:cNvPr id="8" name="Picture 7" descr="A close up of a sign&#10;&#10;Description automatically generated">
            <a:extLst>
              <a:ext uri="{FF2B5EF4-FFF2-40B4-BE49-F238E27FC236}">
                <a16:creationId xmlns:a16="http://schemas.microsoft.com/office/drawing/2014/main" id="{71B5F9BE-A923-4646-871B-C68B5E888F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4064" y="178119"/>
            <a:ext cx="4290040" cy="4290040"/>
          </a:xfrm>
          <a:prstGeom prst="rect">
            <a:avLst/>
          </a:prstGeom>
        </p:spPr>
      </p:pic>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3611</TotalTime>
  <Words>831</Words>
  <Application>Microsoft Macintosh PowerPoint</Application>
  <PresentationFormat>Custom</PresentationFormat>
  <Paragraphs>109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36x48</dc:title>
  <dc:creator>Jay Larson</dc:creator>
  <dc:description>Quality poster printing
www.genigraphics.com
1-800-790-4001</dc:description>
  <cp:lastModifiedBy>Jason Moy</cp:lastModifiedBy>
  <cp:revision>107</cp:revision>
  <cp:lastPrinted>2020-05-31T23:31:51Z</cp:lastPrinted>
  <dcterms:created xsi:type="dcterms:W3CDTF">2013-02-10T21:14:48Z</dcterms:created>
  <dcterms:modified xsi:type="dcterms:W3CDTF">2020-06-03T21:06:15Z</dcterms:modified>
</cp:coreProperties>
</file>